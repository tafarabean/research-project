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6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319" r:id="rId40"/>
    <p:sldId id="293" r:id="rId41"/>
    <p:sldId id="294" r:id="rId42"/>
    <p:sldId id="295" r:id="rId43"/>
    <p:sldId id="296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20" r:id="rId65"/>
    <p:sldId id="321" r:id="rId66"/>
  </p:sldIdLst>
  <p:sldSz cx="9144000" cy="5143500" type="screen16x9"/>
  <p:notesSz cx="6858000" cy="9144000"/>
  <p:embeddedFontLst>
    <p:embeddedFont>
      <p:font typeface="Maven Pro" panose="020B0604020202020204" charset="0"/>
      <p:regular r:id="rId68"/>
      <p:bold r:id="rId69"/>
    </p:embeddedFont>
    <p:embeddedFont>
      <p:font typeface="Nunito" pitchFamily="2" charset="0"/>
      <p:regular r:id="rId70"/>
      <p:bold r:id="rId71"/>
      <p:italic r:id="rId72"/>
      <p:boldItalic r:id="rId73"/>
    </p:embeddedFont>
    <p:embeddedFont>
      <p:font typeface="Roboto" panose="02000000000000000000" pitchFamily="2" charset="0"/>
      <p:regular r:id="rId74"/>
      <p:bold r:id="rId75"/>
      <p:italic r:id="rId76"/>
      <p:boldItalic r:id="rId77"/>
    </p:embeddedFont>
    <p:embeddedFont>
      <p:font typeface="Roboto Mono" panose="00000009000000000000" pitchFamily="49" charset="0"/>
      <p:regular r:id="rId78"/>
      <p:bold r:id="rId79"/>
      <p:italic r:id="rId80"/>
      <p:bold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09BC99-8FEE-466E-8CD9-AA7E51CDB69E}">
  <a:tblStyle styleId="{3509BC99-8FEE-466E-8CD9-AA7E51CDB69E}" styleName="Table_0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rgbClr val="BBBBC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BBBBC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BBBBC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BBBBC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</a:tcBdr>
      </a:tcStyle>
    </a:lastCol>
    <a:firstCol>
      <a:tcTxStyle b="on" i="off"/>
      <a:tcStyle>
        <a:tcBdr>
          <a:righ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firstCol>
    <a:lastRow>
      <a:tcTxStyle b="on" i="off"/>
      <a:tcStyle>
        <a:tcBdr>
          <a:top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eCell>
    <a:swCell>
      <a:tcTxStyle/>
      <a:tcStyle>
        <a:tcBdr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wCell>
    <a:firstRow>
      <a:tcTxStyle b="on" i="off"/>
      <a:tcStyle>
        <a:tcBdr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neCell>
    <a:nwCell>
      <a:tcTxStyle/>
      <a:tcStyle>
        <a:tcBdr/>
      </a:tcStyle>
    </a:nwCell>
  </a:tblStyle>
  <a:tblStyle styleId="{58764678-CECB-4FD5-A3A6-29206F855A8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B6DC356-8BA7-49C3-87EA-7142B15509C8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font" Target="fonts/font1.fntdata"/><Relationship Id="rId84" Type="http://schemas.openxmlformats.org/officeDocument/2006/relationships/theme" Target="theme/theme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7.fntdata"/><Relationship Id="rId79" Type="http://schemas.openxmlformats.org/officeDocument/2006/relationships/font" Target="fonts/font12.fnt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font" Target="fonts/font2.fntdata"/><Relationship Id="rId77" Type="http://schemas.openxmlformats.org/officeDocument/2006/relationships/font" Target="fonts/font10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5.fntdata"/><Relationship Id="rId80" Type="http://schemas.openxmlformats.org/officeDocument/2006/relationships/font" Target="fonts/font13.fntdata"/><Relationship Id="rId85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3.fntdata"/><Relationship Id="rId75" Type="http://schemas.openxmlformats.org/officeDocument/2006/relationships/font" Target="fonts/font8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6.fntdata"/><Relationship Id="rId78" Type="http://schemas.openxmlformats.org/officeDocument/2006/relationships/font" Target="fonts/font11.fntdata"/><Relationship Id="rId8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9.fntdata"/><Relationship Id="rId7" Type="http://schemas.openxmlformats.org/officeDocument/2006/relationships/slide" Target="slides/slide5.xml"/><Relationship Id="rId71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95597551b_1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g3095597551b_1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095597551b_1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095597551b_1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095597551b_1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3095597551b_1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095597551b_1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3095597551b_1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095597551b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095597551b_1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095597551b_1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095597551b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095597551b_1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g3095597551b_1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095597551b_1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095597551b_1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095597551b_1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3095597551b_1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095597551b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3095597551b_1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095597551b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g3095597551b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095597551b_1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g3095597551b_1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095597551b_1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g3095597551b_1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095597551b_1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3095597551b_1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095597551b_1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g3095597551b_1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095597551b_1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g3095597551b_1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095597551b_1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3095597551b_1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095597551b_1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3095597551b_1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095597551b_1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3095597551b_1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095597551b_1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g3095597551b_1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095597551b_1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3095597551b_1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095597551b_1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g3095597551b_1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095597551b_1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g3095597551b_1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095597551b_1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g3095597551b_1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095597551b_1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g3095597551b_1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095597551b_1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g3095597551b_1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095597551b_1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g3095597551b_1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095597551b_1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g3095597551b_1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095597551b_1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g3095597551b_1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095597551b_1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g3095597551b_1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095597551b_1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g3095597551b_1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095597551b_1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g3095597551b_1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095597551b_1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g3095597551b_1_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095597551b_1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g3095597551b_1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095597551b_1_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g3095597551b_1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095597551b_1_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g3095597551b_1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095597551b_1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3095597551b_1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095597551b_1_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g3095597551b_1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095597551b_1_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g3095597551b_1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095597551b_1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g3095597551b_1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095597551b_1_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g3095597551b_1_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095612b42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g3095612b42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095612b42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g3095612b42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095612b42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g3095612b42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095612b42a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g3095612b42a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095612b42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g3095612b42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095612b42a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g3095612b42a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095612b42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g3095612b42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0a1087ca6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g30a1087ca6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095612b42a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g3095612b42a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095612b42a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g3095612b42a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0a1087ca6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g30a1087ca6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>
          <a:extLst>
            <a:ext uri="{FF2B5EF4-FFF2-40B4-BE49-F238E27FC236}">
              <a16:creationId xmlns:a16="http://schemas.microsoft.com/office/drawing/2014/main" id="{A061CDDB-27D5-F11E-8C95-BB2DCBE49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095597551b_1_615:notes">
            <a:extLst>
              <a:ext uri="{FF2B5EF4-FFF2-40B4-BE49-F238E27FC236}">
                <a16:creationId xmlns:a16="http://schemas.microsoft.com/office/drawing/2014/main" id="{A088D617-3962-F872-F156-E81A6D544E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g3095597551b_1_615:notes">
            <a:extLst>
              <a:ext uri="{FF2B5EF4-FFF2-40B4-BE49-F238E27FC236}">
                <a16:creationId xmlns:a16="http://schemas.microsoft.com/office/drawing/2014/main" id="{53CEFE78-44C4-37AA-9744-D0D45BD12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93695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>
          <a:extLst>
            <a:ext uri="{FF2B5EF4-FFF2-40B4-BE49-F238E27FC236}">
              <a16:creationId xmlns:a16="http://schemas.microsoft.com/office/drawing/2014/main" id="{389306D7-1414-72A4-B74E-D7D8A1A46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095597551b_1_623:notes">
            <a:extLst>
              <a:ext uri="{FF2B5EF4-FFF2-40B4-BE49-F238E27FC236}">
                <a16:creationId xmlns:a16="http://schemas.microsoft.com/office/drawing/2014/main" id="{F47E9B7C-32A6-DD72-F527-343093CDC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g3095597551b_1_623:notes">
            <a:extLst>
              <a:ext uri="{FF2B5EF4-FFF2-40B4-BE49-F238E27FC236}">
                <a16:creationId xmlns:a16="http://schemas.microsoft.com/office/drawing/2014/main" id="{3C7DCEB2-BA68-0322-65E2-68254065E6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53336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>
          <a:extLst>
            <a:ext uri="{FF2B5EF4-FFF2-40B4-BE49-F238E27FC236}">
              <a16:creationId xmlns:a16="http://schemas.microsoft.com/office/drawing/2014/main" id="{B4AD8FB2-144E-9873-CECE-B7242EF5F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095597551b_1_629:notes">
            <a:extLst>
              <a:ext uri="{FF2B5EF4-FFF2-40B4-BE49-F238E27FC236}">
                <a16:creationId xmlns:a16="http://schemas.microsoft.com/office/drawing/2014/main" id="{BB943E7B-6DE6-41CC-99C6-24F3F8A24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g3095597551b_1_629:notes">
            <a:extLst>
              <a:ext uri="{FF2B5EF4-FFF2-40B4-BE49-F238E27FC236}">
                <a16:creationId xmlns:a16="http://schemas.microsoft.com/office/drawing/2014/main" id="{498EFBEF-0083-5E4D-5541-883CDEADE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1248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>
          <a:extLst>
            <a:ext uri="{FF2B5EF4-FFF2-40B4-BE49-F238E27FC236}">
              <a16:creationId xmlns:a16="http://schemas.microsoft.com/office/drawing/2014/main" id="{2F14FCDA-F0C9-6C76-B643-9CB0937B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095597551b_1_638:notes">
            <a:extLst>
              <a:ext uri="{FF2B5EF4-FFF2-40B4-BE49-F238E27FC236}">
                <a16:creationId xmlns:a16="http://schemas.microsoft.com/office/drawing/2014/main" id="{0F0B98C0-762D-B93B-D3DA-48A35D2AD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g3095597551b_1_638:notes">
            <a:extLst>
              <a:ext uri="{FF2B5EF4-FFF2-40B4-BE49-F238E27FC236}">
                <a16:creationId xmlns:a16="http://schemas.microsoft.com/office/drawing/2014/main" id="{C2CA2019-7FCD-9CB5-98AB-37F41E1F9F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334818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E5ADA109-1B9F-65AC-284A-7BE523D5D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095597551b_1_646:notes">
            <a:extLst>
              <a:ext uri="{FF2B5EF4-FFF2-40B4-BE49-F238E27FC236}">
                <a16:creationId xmlns:a16="http://schemas.microsoft.com/office/drawing/2014/main" id="{85A6E929-9A40-D091-D50D-1956C7CEC8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g3095597551b_1_646:notes">
            <a:extLst>
              <a:ext uri="{FF2B5EF4-FFF2-40B4-BE49-F238E27FC236}">
                <a16:creationId xmlns:a16="http://schemas.microsoft.com/office/drawing/2014/main" id="{FDDBB387-18D6-08ED-77D7-610AF3C809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979091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>
          <a:extLst>
            <a:ext uri="{FF2B5EF4-FFF2-40B4-BE49-F238E27FC236}">
              <a16:creationId xmlns:a16="http://schemas.microsoft.com/office/drawing/2014/main" id="{F5E0B9F9-AD70-53EA-5F3C-1272B063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095597551b_1_656:notes">
            <a:extLst>
              <a:ext uri="{FF2B5EF4-FFF2-40B4-BE49-F238E27FC236}">
                <a16:creationId xmlns:a16="http://schemas.microsoft.com/office/drawing/2014/main" id="{7026865D-BA64-9157-2628-D92FAFA026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g3095597551b_1_656:notes">
            <a:extLst>
              <a:ext uri="{FF2B5EF4-FFF2-40B4-BE49-F238E27FC236}">
                <a16:creationId xmlns:a16="http://schemas.microsoft.com/office/drawing/2014/main" id="{1809AA80-65C2-4597-3726-394B599D4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9262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>
          <a:extLst>
            <a:ext uri="{FF2B5EF4-FFF2-40B4-BE49-F238E27FC236}">
              <a16:creationId xmlns:a16="http://schemas.microsoft.com/office/drawing/2014/main" id="{3BA82BF5-D32B-E952-A380-DF7837F3B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095597551b_1_664:notes">
            <a:extLst>
              <a:ext uri="{FF2B5EF4-FFF2-40B4-BE49-F238E27FC236}">
                <a16:creationId xmlns:a16="http://schemas.microsoft.com/office/drawing/2014/main" id="{E46835B6-6B50-A273-335E-CBB1CA6E7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g3095597551b_1_664:notes">
            <a:extLst>
              <a:ext uri="{FF2B5EF4-FFF2-40B4-BE49-F238E27FC236}">
                <a16:creationId xmlns:a16="http://schemas.microsoft.com/office/drawing/2014/main" id="{B8FEA01A-7601-DA81-41FD-2C39169FDE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736396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>
          <a:extLst>
            <a:ext uri="{FF2B5EF4-FFF2-40B4-BE49-F238E27FC236}">
              <a16:creationId xmlns:a16="http://schemas.microsoft.com/office/drawing/2014/main" id="{0FE5D627-4E30-F6B1-9D45-67F17659A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095597551b_1_672:notes">
            <a:extLst>
              <a:ext uri="{FF2B5EF4-FFF2-40B4-BE49-F238E27FC236}">
                <a16:creationId xmlns:a16="http://schemas.microsoft.com/office/drawing/2014/main" id="{E467C595-498E-B8D7-606F-D879195ED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g3095597551b_1_672:notes">
            <a:extLst>
              <a:ext uri="{FF2B5EF4-FFF2-40B4-BE49-F238E27FC236}">
                <a16:creationId xmlns:a16="http://schemas.microsoft.com/office/drawing/2014/main" id="{2A45365E-AB29-2C70-CF8E-7B729ECA0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268836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>
          <a:extLst>
            <a:ext uri="{FF2B5EF4-FFF2-40B4-BE49-F238E27FC236}">
              <a16:creationId xmlns:a16="http://schemas.microsoft.com/office/drawing/2014/main" id="{7ED83E7C-9DD6-01B3-BA4E-2A45BBEBC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095597551b_1_679:notes">
            <a:extLst>
              <a:ext uri="{FF2B5EF4-FFF2-40B4-BE49-F238E27FC236}">
                <a16:creationId xmlns:a16="http://schemas.microsoft.com/office/drawing/2014/main" id="{96E8A448-2DE9-FA3A-2A02-14E9467D2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g3095597551b_1_679:notes">
            <a:extLst>
              <a:ext uri="{FF2B5EF4-FFF2-40B4-BE49-F238E27FC236}">
                <a16:creationId xmlns:a16="http://schemas.microsoft.com/office/drawing/2014/main" id="{D19B4DED-8807-FF14-2C72-4D8F9781C4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465036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0a1087ca6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g30a1087ca6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0a1087ca6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g30a1087ca6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56" name="Google Shape;56;p14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57" name="Google Shape;57;p14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14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" name="Google Shape;59;p14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" name="Google Shape;63;p14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64" name="Google Shape;64;p14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14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4" name="Google Shape;74;p14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75" name="Google Shape;75;p14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" name="Google Shape;77;p14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78" name="Google Shape;78;p14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4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" name="Google Shape;81;p14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" name="Google Shape;82;p14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83" name="Google Shape;83;p1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" name="Google Shape;85;p14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96" name="Google Shape;96;p15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97" name="Google Shape;97;p15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15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00" name="Google Shape;100;p1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15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04" name="Google Shape;104;p15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8" name="Google Shape;108;p15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109" name="Google Shape;109;p15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10" name="Google Shape;110;p1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" name="Google Shape;116;p15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" name="Google Shape;121;p15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22" name="Google Shape;122;p15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7" name="Google Shape;127;p15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1" name="Google Shape;131;p1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8" name="Google Shape;138;p1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1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43" name="Google Shape;143;p1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46" name="Google Shape;146;p1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52" name="Google Shape;152;p1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0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59" name="Google Shape;159;p20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60" name="Google Shape;160;p2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0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" name="Google Shape;163;p20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64" name="Google Shape;164;p20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" name="Google Shape;167;p20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68" name="Google Shape;168;p2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1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74" name="Google Shape;174;p2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2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2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22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85" name="Google Shape;185;p2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3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88" name="Google Shape;188;p23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89" name="Google Shape;189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3" name="Google Shape;193;p23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94" name="Google Shape;194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3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9" name="Google Shape;199;p23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200" name="Google Shape;200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4" name="Google Shape;204;p23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205" name="Google Shape;205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23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209" name="Google Shape;209;p23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3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3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23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23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214;p23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215" name="Google Shape;215;p23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23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3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3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23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220" name="Google Shape;220;p23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3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3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23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224" name="Google Shape;224;p23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23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3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23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23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" name="Google Shape;229;p23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230" name="Google Shape;230;p23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23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3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23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23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235" name="Google Shape;235;p23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23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23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23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" name="Google Shape;239;p23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240" name="Google Shape;240;p23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23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23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" name="Google Shape;243;p23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44" name="Google Shape;244;p23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3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3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3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8" name="Google Shape;248;p23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49" name="Google Shape;249;p23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3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3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3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3" name="Google Shape;253;p23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54" name="Google Shape;254;p23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23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23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23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3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" name="Google Shape;259;p23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60" name="Google Shape;260;p23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3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23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23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23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65" name="Google Shape;265;p23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3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23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8" name="Google Shape;268;p23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69" name="Google Shape;269;p23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23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23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23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3" name="Google Shape;273;p23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74" name="Google Shape;274;p23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23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23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23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3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9" name="Google Shape;279;p23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80" name="Google Shape;280;p23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23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23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23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4" name="Google Shape;284;p23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85" name="Google Shape;285;p23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3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23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23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89" name="Google Shape;289;p23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23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23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23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23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" name="Google Shape;294;p23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95" name="Google Shape;295;p23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23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23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23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9" name="Google Shape;299;p23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300" name="Google Shape;300;p23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23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23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23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4" name="Google Shape;304;p23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305" name="Google Shape;305;p23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23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23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8" name="Google Shape;308;p23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309" name="Google Shape;309;p23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23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23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23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3" name="Google Shape;313;p23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4" name="Google Shape;314;p23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2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accent3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1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6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0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5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5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5.pn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5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8.png"/><Relationship Id="rId5" Type="http://schemas.openxmlformats.org/officeDocument/2006/relationships/image" Target="../media/image4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5.png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2.jp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2.jpg"/><Relationship Id="rId4" Type="http://schemas.openxmlformats.org/officeDocument/2006/relationships/image" Target="../media/image101.jp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6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2165/00007256-200232090-00001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 txBox="1">
            <a:spLocks noGrp="1"/>
          </p:cNvSpPr>
          <p:nvPr>
            <p:ph type="ctrTitle"/>
          </p:nvPr>
        </p:nvSpPr>
        <p:spPr>
          <a:xfrm>
            <a:off x="824000" y="917138"/>
            <a:ext cx="4255500" cy="1872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Factors Affecting Performance in Swimming</a:t>
            </a:r>
            <a:endParaRPr/>
          </a:p>
        </p:txBody>
      </p:sp>
      <p:sp>
        <p:nvSpPr>
          <p:cNvPr id="323" name="Google Shape;323;p25"/>
          <p:cNvSpPr txBox="1">
            <a:spLocks noGrp="1"/>
          </p:cNvSpPr>
          <p:nvPr>
            <p:ph type="subTitle" idx="1"/>
          </p:nvPr>
        </p:nvSpPr>
        <p:spPr>
          <a:xfrm>
            <a:off x="824000" y="3047850"/>
            <a:ext cx="4586400" cy="1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b="1"/>
              <a:t>Presented by</a:t>
            </a:r>
            <a:r>
              <a:rPr lang="en"/>
              <a:t>: NazriFC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b="1"/>
              <a:t>Objective</a:t>
            </a:r>
            <a:r>
              <a:rPr lang="en"/>
              <a:t>: To analyze which factors influence performance in swimming using exploratory data analysis and hypothesis testing.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pic>
        <p:nvPicPr>
          <p:cNvPr id="324" name="Google Shape;32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250" y="59300"/>
            <a:ext cx="998675" cy="9393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  <a:reflection stA="30000" endPos="30000" dist="38100" dir="5400000" fadeDir="5400012" sy="-100000" algn="bl" rotWithShape="0"/>
          </a:effectLst>
        </p:spPr>
      </p:pic>
      <p:pic>
        <p:nvPicPr>
          <p:cNvPr id="325" name="Google Shape;325;p25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5079500" y="2618850"/>
            <a:ext cx="2227200" cy="222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6"/>
          <p:cNvSpPr txBox="1">
            <a:spLocks noGrp="1"/>
          </p:cNvSpPr>
          <p:nvPr>
            <p:ph type="title"/>
          </p:nvPr>
        </p:nvSpPr>
        <p:spPr>
          <a:xfrm>
            <a:off x="824000" y="0"/>
            <a:ext cx="6917920" cy="2664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/>
              <a:t>Sections:</a:t>
            </a:r>
            <a:br>
              <a:rPr lang="en"/>
            </a:br>
            <a:r>
              <a:rPr lang="en" sz="2800"/>
              <a:t>Tafara Kanyemba: 3-15,29,34-37</a:t>
            </a:r>
            <a:br>
              <a:rPr lang="en" sz="2800"/>
            </a:br>
            <a:r>
              <a:rPr lang="en" sz="2800"/>
              <a:t>Unathi Manana: 20-28,30-31</a:t>
            </a:r>
            <a:br>
              <a:rPr lang="en" sz="2800"/>
            </a:br>
            <a:r>
              <a:rPr lang="en" sz="2800"/>
              <a:t>Neo Zandamela: 16-19,32-33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250" y="59300"/>
            <a:ext cx="998675" cy="9393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  <a:reflection stA="30000" endPos="30000" dist="38100" dir="5400000" fadeDir="5400012" sy="-100000" algn="bl" rotWithShape="0"/>
          </a:effectLst>
        </p:spPr>
      </p:pic>
      <p:pic>
        <p:nvPicPr>
          <p:cNvPr id="336" name="Google Shape;336;p27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6916800" y="1770825"/>
            <a:ext cx="2227200" cy="222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7" name="Google Shape;337;p27"/>
          <p:cNvSpPr/>
          <p:nvPr/>
        </p:nvSpPr>
        <p:spPr>
          <a:xfrm>
            <a:off x="905250" y="1068650"/>
            <a:ext cx="7447500" cy="3787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But reduces to just 200 observations</a:t>
            </a:r>
            <a:endParaRPr/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3450" y="1421550"/>
            <a:ext cx="748500" cy="7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5939025" y="4455625"/>
            <a:ext cx="3000000" cy="400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7"/>
          <p:cNvSpPr txBox="1"/>
          <p:nvPr/>
        </p:nvSpPr>
        <p:spPr>
          <a:xfrm>
            <a:off x="1662600" y="1380150"/>
            <a:ext cx="2909400" cy="831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2000 observations (originally)</a:t>
            </a: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33 variables</a:t>
            </a: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Focused on swimming athletes</a:t>
            </a: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980788" y="1425300"/>
            <a:ext cx="733800" cy="74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2" name="Google Shape;342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3450" y="1421550"/>
            <a:ext cx="748500" cy="7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63486" y="2416629"/>
            <a:ext cx="2808514" cy="293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"/>
          <p:cNvSpPr txBox="1">
            <a:spLocks noGrp="1"/>
          </p:cNvSpPr>
          <p:nvPr>
            <p:ph type="title"/>
          </p:nvPr>
        </p:nvSpPr>
        <p:spPr>
          <a:xfrm>
            <a:off x="1303800" y="20575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 – Exploratory Data Analysis (EDA) Overview</a:t>
            </a:r>
            <a:endParaRPr/>
          </a:p>
        </p:txBody>
      </p:sp>
      <p:cxnSp>
        <p:nvCxnSpPr>
          <p:cNvPr id="349" name="Google Shape;349;p28"/>
          <p:cNvCxnSpPr>
            <a:stCxn id="348" idx="2"/>
          </p:cNvCxnSpPr>
          <p:nvPr/>
        </p:nvCxnSpPr>
        <p:spPr>
          <a:xfrm flipH="1">
            <a:off x="4810050" y="1205050"/>
            <a:ext cx="9000" cy="258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cxnSp>
      <p:pic>
        <p:nvPicPr>
          <p:cNvPr id="350" name="Google Shape;350;p28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-89050" y="3008500"/>
            <a:ext cx="2227200" cy="222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351" name="Google Shape;351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3975" y="2784851"/>
            <a:ext cx="2905200" cy="809675"/>
          </a:xfrm>
          <a:prstGeom prst="rect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352" name="Google Shape;352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3975" y="1517703"/>
            <a:ext cx="2869675" cy="77982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53" name="Google Shape;353;p28"/>
          <p:cNvSpPr txBox="1"/>
          <p:nvPr/>
        </p:nvSpPr>
        <p:spPr>
          <a:xfrm>
            <a:off x="2271000" y="1109400"/>
            <a:ext cx="848700" cy="288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BEFORE</a:t>
            </a:r>
            <a:endParaRPr sz="1300" b="1" i="0" u="none" strike="noStrike" cap="non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" name="Google Shape;354;p28"/>
          <p:cNvSpPr txBox="1"/>
          <p:nvPr/>
        </p:nvSpPr>
        <p:spPr>
          <a:xfrm>
            <a:off x="2315878" y="2416925"/>
            <a:ext cx="974700" cy="257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FF00"/>
                </a:solidFill>
                <a:latin typeface="Nunito"/>
                <a:ea typeface="Nunito"/>
                <a:cs typeface="Nunito"/>
                <a:sym typeface="Nunito"/>
              </a:rPr>
              <a:t>AFTER</a:t>
            </a:r>
            <a:endParaRPr sz="1300" b="1" i="0" u="none" strike="noStrike" cap="none">
              <a:solidFill>
                <a:srgbClr val="00FF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932250" y="3973900"/>
            <a:ext cx="3886800" cy="74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4907500" y="3973900"/>
            <a:ext cx="3886800" cy="74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7" name="Google Shape;357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2838" y="4026587"/>
            <a:ext cx="643150" cy="643124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8"/>
          <p:cNvSpPr txBox="1"/>
          <p:nvPr/>
        </p:nvSpPr>
        <p:spPr>
          <a:xfrm>
            <a:off x="1806750" y="3922000"/>
            <a:ext cx="3000000" cy="400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8"/>
          <p:cNvSpPr txBox="1"/>
          <p:nvPr/>
        </p:nvSpPr>
        <p:spPr>
          <a:xfrm>
            <a:off x="1854150" y="4116700"/>
            <a:ext cx="29052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Converted </a:t>
            </a:r>
            <a:r>
              <a:rPr lang="en" sz="1100" b="1" i="1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gender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binary (1 for Male, 0 for Female).</a:t>
            </a:r>
            <a:endParaRPr sz="1300" b="0" i="0" u="none" strike="noStrike" cap="non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0" name="Google Shape;360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97046" y="1625396"/>
            <a:ext cx="3926251" cy="56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10400" y="2784850"/>
            <a:ext cx="3410598" cy="8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8"/>
          <p:cNvSpPr txBox="1"/>
          <p:nvPr/>
        </p:nvSpPr>
        <p:spPr>
          <a:xfrm>
            <a:off x="6535825" y="1061400"/>
            <a:ext cx="84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BEFORE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8"/>
          <p:cNvSpPr txBox="1"/>
          <p:nvPr/>
        </p:nvSpPr>
        <p:spPr>
          <a:xfrm>
            <a:off x="6596575" y="2397025"/>
            <a:ext cx="727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FF00"/>
                </a:solidFill>
                <a:latin typeface="Nunito"/>
                <a:ea typeface="Nunito"/>
                <a:cs typeface="Nunito"/>
                <a:sym typeface="Nunito"/>
              </a:rPr>
              <a:t>AFTER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50563" y="4026587"/>
            <a:ext cx="643150" cy="643124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8"/>
          <p:cNvSpPr txBox="1"/>
          <p:nvPr/>
        </p:nvSpPr>
        <p:spPr>
          <a:xfrm>
            <a:off x="5780875" y="4061450"/>
            <a:ext cx="28401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Removed redundant variable </a:t>
            </a:r>
            <a:r>
              <a:rPr lang="en" sz="1100" b="1" i="0" u="none" strike="noStrike" cap="none">
                <a:solidFill>
                  <a:schemeClr val="dk2"/>
                </a:solidFill>
                <a:highlight>
                  <a:srgbClr val="D9D9D9"/>
                </a:highlight>
                <a:latin typeface="Roboto Mono"/>
                <a:ea typeface="Roboto Mono"/>
                <a:cs typeface="Roboto Mono"/>
                <a:sym typeface="Roboto Mono"/>
              </a:rPr>
              <a:t>x22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(Physical Fitness) which was identical to </a:t>
            </a:r>
            <a:r>
              <a:rPr lang="en" sz="1100" b="1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Roboto Mono"/>
                <a:ea typeface="Roboto Mono"/>
                <a:cs typeface="Roboto Mono"/>
                <a:sym typeface="Roboto Mono"/>
              </a:rPr>
              <a:t>x13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(Fitness)</a:t>
            </a:r>
            <a:endParaRPr sz="1300" b="0" i="0" u="none" strike="noStrike" cap="non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9"/>
          <p:cNvSpPr txBox="1">
            <a:spLocks noGrp="1"/>
          </p:cNvSpPr>
          <p:nvPr>
            <p:ph type="title"/>
          </p:nvPr>
        </p:nvSpPr>
        <p:spPr>
          <a:xfrm>
            <a:off x="1303800" y="205750"/>
            <a:ext cx="70305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 – Correlation Analysis</a:t>
            </a:r>
            <a:endParaRPr/>
          </a:p>
        </p:txBody>
      </p:sp>
      <p:sp>
        <p:nvSpPr>
          <p:cNvPr id="371" name="Google Shape;371;p29"/>
          <p:cNvSpPr/>
          <p:nvPr/>
        </p:nvSpPr>
        <p:spPr>
          <a:xfrm>
            <a:off x="1365094" y="761290"/>
            <a:ext cx="5865000" cy="90988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2" name="Google Shape;372;p29"/>
          <p:cNvSpPr txBox="1"/>
          <p:nvPr/>
        </p:nvSpPr>
        <p:spPr>
          <a:xfrm>
            <a:off x="3199081" y="4172800"/>
            <a:ext cx="34806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73" name="Google Shape;37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2020" y="888945"/>
            <a:ext cx="629065" cy="5250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74" name="Google Shape;374;p29"/>
          <p:cNvSpPr txBox="1"/>
          <p:nvPr/>
        </p:nvSpPr>
        <p:spPr>
          <a:xfrm>
            <a:off x="2692603" y="746975"/>
            <a:ext cx="41292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Variables arm strength, endurance, fitness, lactate threshold, maximal oxygen uptake, muscle strength, physical fitness and technical skills show high correlations with performance.</a:t>
            </a:r>
            <a:endParaRPr sz="1300" b="1" i="0" u="none" strike="noStrike" cap="non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75" name="Google Shape;375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3800" y="1813200"/>
            <a:ext cx="3356850" cy="2360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75362" y="1817589"/>
            <a:ext cx="1161137" cy="2818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Phase 1 – Correlation Analysis</a:t>
            </a:r>
            <a:endParaRPr/>
          </a:p>
        </p:txBody>
      </p:sp>
      <p:sp>
        <p:nvSpPr>
          <p:cNvPr id="382" name="Google Shape;382;p30"/>
          <p:cNvSpPr txBox="1">
            <a:spLocks noGrp="1"/>
          </p:cNvSpPr>
          <p:nvPr>
            <p:ph type="body" idx="1"/>
          </p:nvPr>
        </p:nvSpPr>
        <p:spPr>
          <a:xfrm>
            <a:off x="1187147" y="1172030"/>
            <a:ext cx="2995386" cy="62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X22 (physical fitness) and x13 (fitness)</a:t>
            </a:r>
            <a:endParaRPr/>
          </a:p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Have the exact same information!</a:t>
            </a:r>
            <a:endParaRPr/>
          </a:p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endParaRPr/>
          </a:p>
        </p:txBody>
      </p:sp>
      <p:pic>
        <p:nvPicPr>
          <p:cNvPr id="383" name="Google Shape;38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858" y="1798772"/>
            <a:ext cx="5170479" cy="168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2903" y="1802348"/>
            <a:ext cx="2281397" cy="1743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"/>
          <p:cNvSpPr txBox="1">
            <a:spLocks noGrp="1"/>
          </p:cNvSpPr>
          <p:nvPr>
            <p:ph type="title"/>
          </p:nvPr>
        </p:nvSpPr>
        <p:spPr>
          <a:xfrm>
            <a:off x="1303800" y="205750"/>
            <a:ext cx="70305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 – Correlation Analysis</a:t>
            </a:r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1365094" y="761290"/>
            <a:ext cx="5865000" cy="99130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3199081" y="4172800"/>
            <a:ext cx="34806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92" name="Google Shape;39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2020" y="888945"/>
            <a:ext cx="629065" cy="5250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93" name="Google Shape;393;p31"/>
          <p:cNvSpPr txBox="1"/>
          <p:nvPr/>
        </p:nvSpPr>
        <p:spPr>
          <a:xfrm>
            <a:off x="2692603" y="746975"/>
            <a:ext cx="41292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Variables arm strength, endurance, fitness, lactate threshold, maximal oxygen uptake, muscle strength and technical skills show high correlations with performance.</a:t>
            </a:r>
            <a:endParaRPr/>
          </a:p>
        </p:txBody>
      </p:sp>
      <p:pic>
        <p:nvPicPr>
          <p:cNvPr id="394" name="Google Shape;39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6919" y="2157312"/>
            <a:ext cx="5008681" cy="1299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9681" y="1997684"/>
            <a:ext cx="1092519" cy="270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Phase 1- Categorical Variables</a:t>
            </a:r>
            <a:endParaRPr/>
          </a:p>
        </p:txBody>
      </p:sp>
      <p:sp>
        <p:nvSpPr>
          <p:cNvPr id="401" name="Google Shape;401;p32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We felt it necessary to create an extra set of categorical variables</a:t>
            </a:r>
            <a:endParaRPr/>
          </a:p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/>
          </a:p>
        </p:txBody>
      </p:sp>
      <p:pic>
        <p:nvPicPr>
          <p:cNvPr id="402" name="Google Shape;40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800" y="2387704"/>
            <a:ext cx="5544324" cy="2534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Phase 1- Categorical variables</a:t>
            </a:r>
            <a:endParaRPr/>
          </a:p>
        </p:txBody>
      </p:sp>
      <p:sp>
        <p:nvSpPr>
          <p:cNvPr id="408" name="Google Shape;408;p33"/>
          <p:cNvSpPr txBox="1">
            <a:spLocks noGrp="1"/>
          </p:cNvSpPr>
          <p:nvPr>
            <p:ph type="body" idx="1"/>
          </p:nvPr>
        </p:nvSpPr>
        <p:spPr>
          <a:xfrm>
            <a:off x="1210667" y="1597875"/>
            <a:ext cx="2921067" cy="455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The additional categorical variables.</a:t>
            </a:r>
            <a:endParaRPr/>
          </a:p>
        </p:txBody>
      </p:sp>
      <p:pic>
        <p:nvPicPr>
          <p:cNvPr id="409" name="Google Shape;40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800" y="2445384"/>
            <a:ext cx="5868219" cy="2086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/>
          <p:cNvSpPr txBox="1">
            <a:spLocks noGrp="1"/>
          </p:cNvSpPr>
          <p:nvPr>
            <p:ph type="title"/>
          </p:nvPr>
        </p:nvSpPr>
        <p:spPr>
          <a:xfrm>
            <a:off x="1303800" y="205750"/>
            <a:ext cx="70305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 – Scatterplots</a:t>
            </a:r>
            <a:endParaRPr/>
          </a:p>
        </p:txBody>
      </p:sp>
      <p:sp>
        <p:nvSpPr>
          <p:cNvPr id="415" name="Google Shape;415;p34"/>
          <p:cNvSpPr/>
          <p:nvPr/>
        </p:nvSpPr>
        <p:spPr>
          <a:xfrm>
            <a:off x="1886550" y="3998950"/>
            <a:ext cx="5865000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16" name="Google Shape;41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277" y="1443200"/>
            <a:ext cx="3272253" cy="19720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80000"/>
              </a:srgbClr>
            </a:outerShdw>
          </a:effectLst>
        </p:spPr>
      </p:pic>
      <p:pic>
        <p:nvPicPr>
          <p:cNvPr id="417" name="Google Shape;417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34811" y="1461214"/>
            <a:ext cx="3182518" cy="19720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80000"/>
              </a:srgbClr>
            </a:outerShdw>
          </a:effectLst>
        </p:spPr>
      </p:pic>
      <p:pic>
        <p:nvPicPr>
          <p:cNvPr id="418" name="Google Shape;418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68075" y="4021162"/>
            <a:ext cx="989075" cy="989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19" name="Google Shape;419;p34"/>
          <p:cNvSpPr txBox="1"/>
          <p:nvPr/>
        </p:nvSpPr>
        <p:spPr>
          <a:xfrm>
            <a:off x="1340153" y="1061484"/>
            <a:ext cx="20085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perform vs endurance</a:t>
            </a:r>
            <a:endParaRPr sz="1300" b="1" i="0" u="none" strike="noStrike" cap="none"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0" name="Google Shape;420;p34"/>
          <p:cNvSpPr txBox="1"/>
          <p:nvPr/>
        </p:nvSpPr>
        <p:spPr>
          <a:xfrm>
            <a:off x="5642389" y="939511"/>
            <a:ext cx="2023875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perform vs oxygen uptake</a:t>
            </a:r>
            <a:endParaRPr sz="1300" b="1" i="0" u="none" strike="noStrike" cap="none"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1" name="Google Shape;421;p34"/>
          <p:cNvSpPr txBox="1"/>
          <p:nvPr/>
        </p:nvSpPr>
        <p:spPr>
          <a:xfrm>
            <a:off x="3742750" y="4259950"/>
            <a:ext cx="3238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Positive correlations with endurance, fitness, lactate threshold and oxygen uptake.</a:t>
            </a:r>
            <a:endParaRPr sz="1300" b="1" i="0" u="none" strike="noStrike" cap="non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"/>
          <p:cNvSpPr txBox="1">
            <a:spLocks noGrp="1"/>
          </p:cNvSpPr>
          <p:nvPr>
            <p:ph type="title"/>
          </p:nvPr>
        </p:nvSpPr>
        <p:spPr>
          <a:xfrm>
            <a:off x="1303800" y="205750"/>
            <a:ext cx="70305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 – Scatterplots</a:t>
            </a:r>
            <a:endParaRPr/>
          </a:p>
        </p:txBody>
      </p:sp>
      <p:sp>
        <p:nvSpPr>
          <p:cNvPr id="427" name="Google Shape;427;p35"/>
          <p:cNvSpPr/>
          <p:nvPr/>
        </p:nvSpPr>
        <p:spPr>
          <a:xfrm>
            <a:off x="1886550" y="3998950"/>
            <a:ext cx="5865000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28" name="Google Shape;42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8075" y="4021162"/>
            <a:ext cx="989075" cy="989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29" name="Google Shape;429;p35"/>
          <p:cNvSpPr txBox="1"/>
          <p:nvPr/>
        </p:nvSpPr>
        <p:spPr>
          <a:xfrm>
            <a:off x="1366382" y="793150"/>
            <a:ext cx="20085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perform vs endurance</a:t>
            </a:r>
            <a:endParaRPr sz="1300" b="1" i="0" u="none" strike="noStrike" cap="none"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0" name="Google Shape;430;p35"/>
          <p:cNvSpPr txBox="1"/>
          <p:nvPr/>
        </p:nvSpPr>
        <p:spPr>
          <a:xfrm>
            <a:off x="5791797" y="667072"/>
            <a:ext cx="2023875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perform vs oxygen uptake</a:t>
            </a:r>
            <a:endParaRPr sz="1300" b="1" i="0" u="none" strike="noStrike" cap="none"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1" name="Google Shape;431;p35"/>
          <p:cNvSpPr txBox="1"/>
          <p:nvPr/>
        </p:nvSpPr>
        <p:spPr>
          <a:xfrm>
            <a:off x="3742750" y="4259950"/>
            <a:ext cx="3238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Positive correlations with endurance, fitness, lactate threshold and oxygen uptake.</a:t>
            </a:r>
            <a:endParaRPr sz="1300" b="1" i="0" u="none" strike="noStrike" cap="non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32" name="Google Shape;432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140" y="1186232"/>
            <a:ext cx="3344985" cy="2042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86300" y="1186232"/>
            <a:ext cx="3404495" cy="2042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Phase 1- Scatterplots</a:t>
            </a:r>
            <a:endParaRPr/>
          </a:p>
        </p:txBody>
      </p:sp>
      <p:pic>
        <p:nvPicPr>
          <p:cNvPr id="439" name="Google Shape;43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4761" y="1589710"/>
            <a:ext cx="3530130" cy="194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5294" y="1597874"/>
            <a:ext cx="3816542" cy="194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7"/>
          <p:cNvSpPr txBox="1">
            <a:spLocks noGrp="1"/>
          </p:cNvSpPr>
          <p:nvPr>
            <p:ph type="title"/>
          </p:nvPr>
        </p:nvSpPr>
        <p:spPr>
          <a:xfrm>
            <a:off x="1303800" y="205750"/>
            <a:ext cx="70305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 – Multi-dimensional Analysis</a:t>
            </a:r>
            <a:endParaRPr/>
          </a:p>
        </p:txBody>
      </p:sp>
      <p:sp>
        <p:nvSpPr>
          <p:cNvPr id="446" name="Google Shape;446;p37"/>
          <p:cNvSpPr/>
          <p:nvPr/>
        </p:nvSpPr>
        <p:spPr>
          <a:xfrm>
            <a:off x="1886550" y="3998950"/>
            <a:ext cx="5865000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2839853" y="4141738"/>
            <a:ext cx="34806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8" name="Google Shape;44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300" y="945550"/>
            <a:ext cx="4191350" cy="2901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80000"/>
              </a:srgbClr>
            </a:outerShdw>
          </a:effectLst>
        </p:spPr>
      </p:pic>
      <p:pic>
        <p:nvPicPr>
          <p:cNvPr id="449" name="Google Shape;449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4925" y="945550"/>
            <a:ext cx="4241336" cy="2901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80000"/>
              </a:srgbClr>
            </a:outerShdw>
          </a:effectLst>
        </p:spPr>
      </p:pic>
      <p:pic>
        <p:nvPicPr>
          <p:cNvPr id="450" name="Google Shape;450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52350" y="4093996"/>
            <a:ext cx="843400" cy="843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51" name="Google Shape;451;p37"/>
          <p:cNvSpPr txBox="1"/>
          <p:nvPr/>
        </p:nvSpPr>
        <p:spPr>
          <a:xfrm>
            <a:off x="3387000" y="4180450"/>
            <a:ext cx="36315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Higher endurance and fitness, along with better oxygen uptake, are associated with higher performance.</a:t>
            </a:r>
            <a:endParaRPr sz="1300" b="1" i="0" u="none" strike="noStrike" cap="non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Phase 1- Bubbleplots</a:t>
            </a:r>
            <a:endParaRPr/>
          </a:p>
        </p:txBody>
      </p:sp>
      <p:sp>
        <p:nvSpPr>
          <p:cNvPr id="457" name="Google Shape;457;p38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/>
          </a:p>
        </p:txBody>
      </p:sp>
      <p:pic>
        <p:nvPicPr>
          <p:cNvPr id="458" name="Google Shape;45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021" y="2104061"/>
            <a:ext cx="8334300" cy="1343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Phase 1-Gender Gap</a:t>
            </a:r>
            <a:endParaRPr/>
          </a:p>
        </p:txBody>
      </p:sp>
      <p:sp>
        <p:nvSpPr>
          <p:cNvPr id="464" name="Google Shape;464;p39"/>
          <p:cNvSpPr txBox="1">
            <a:spLocks noGrp="1"/>
          </p:cNvSpPr>
          <p:nvPr>
            <p:ph type="body" idx="1"/>
          </p:nvPr>
        </p:nvSpPr>
        <p:spPr>
          <a:xfrm>
            <a:off x="4283547" y="1251250"/>
            <a:ext cx="2602971" cy="913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400">
                <a:solidFill>
                  <a:srgbClr val="212121"/>
                </a:solidFill>
              </a:rPr>
              <a:t>There appears to be a large </a:t>
            </a:r>
            <a:endParaRPr/>
          </a:p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400">
                <a:solidFill>
                  <a:srgbClr val="212121"/>
                </a:solidFill>
              </a:rPr>
              <a:t>Gender gap in the swimming competition </a:t>
            </a:r>
            <a:endParaRPr/>
          </a:p>
        </p:txBody>
      </p:sp>
      <p:pic>
        <p:nvPicPr>
          <p:cNvPr id="465" name="Google Shape;46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800" y="1098225"/>
            <a:ext cx="2819875" cy="193072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466" name="Google Shape;466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3799" y="3198365"/>
            <a:ext cx="2819875" cy="185247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467" name="Google Shape;467;p39"/>
          <p:cNvSpPr txBox="1"/>
          <p:nvPr/>
        </p:nvSpPr>
        <p:spPr>
          <a:xfrm>
            <a:off x="4283547" y="3369030"/>
            <a:ext cx="30316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460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But there is very strong competition</a:t>
            </a:r>
            <a:endParaRPr/>
          </a:p>
        </p:txBody>
      </p:sp>
      <p:pic>
        <p:nvPicPr>
          <p:cNvPr id="468" name="Google Shape;468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2328703"/>
            <a:ext cx="2819875" cy="309499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469" name="Google Shape;469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3944559"/>
            <a:ext cx="2743200" cy="36008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0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Visualization of Performance, Muscle Strength, and Mental Factors in Swim Data</a:t>
            </a:r>
            <a:endParaRPr/>
          </a:p>
        </p:txBody>
      </p:sp>
      <p:pic>
        <p:nvPicPr>
          <p:cNvPr id="475" name="Google Shape;47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555" y="1293428"/>
            <a:ext cx="3059219" cy="2257704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476" name="Google Shape;476;p40"/>
          <p:cNvSpPr/>
          <p:nvPr/>
        </p:nvSpPr>
        <p:spPr>
          <a:xfrm>
            <a:off x="1137222" y="3850072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77" name="Google Shape;477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7222" y="3890172"/>
            <a:ext cx="953300" cy="95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06333" y="1952417"/>
            <a:ext cx="4879220" cy="86698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479" name="Google Shape;479;p40"/>
          <p:cNvSpPr txBox="1"/>
          <p:nvPr/>
        </p:nvSpPr>
        <p:spPr>
          <a:xfrm>
            <a:off x="2184400" y="3890172"/>
            <a:ext cx="582237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Although there appears to be a lot of variance, for the different muscle strength categories the performance appears to be centred between 60-70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mean performance between males and females appears to be insignificant for different muscle strength categories since both graphs overlap.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1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Visualization of Performance, Muscle Strength, and Mental Factors in Swim Data</a:t>
            </a:r>
            <a:endParaRPr/>
          </a:p>
        </p:txBody>
      </p:sp>
      <p:pic>
        <p:nvPicPr>
          <p:cNvPr id="485" name="Google Shape;48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094" y="1293428"/>
            <a:ext cx="3059218" cy="225770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486" name="Google Shape;486;p41"/>
          <p:cNvSpPr/>
          <p:nvPr/>
        </p:nvSpPr>
        <p:spPr>
          <a:xfrm>
            <a:off x="1137222" y="3850072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87" name="Google Shape;487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9267" y="4040722"/>
            <a:ext cx="652200" cy="652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488" name="Google Shape;488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22134" y="1930401"/>
            <a:ext cx="5056552" cy="8128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489" name="Google Shape;489;p41"/>
          <p:cNvSpPr txBox="1"/>
          <p:nvPr/>
        </p:nvSpPr>
        <p:spPr>
          <a:xfrm>
            <a:off x="2173512" y="3935935"/>
            <a:ext cx="550333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distribution of muscle strength categories across the two genders appears to be normally distributed.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muscle category #2 being dominant for both genders, indicating that both genders have a specialization in that category.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2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Visualization of Performance, Muscle Strength, and Mental Factors in Swim Data</a:t>
            </a:r>
            <a:endParaRPr/>
          </a:p>
        </p:txBody>
      </p:sp>
      <p:pic>
        <p:nvPicPr>
          <p:cNvPr id="495" name="Google Shape;49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888" y="1270533"/>
            <a:ext cx="3542986" cy="260243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496" name="Google Shape;496;p42"/>
          <p:cNvSpPr/>
          <p:nvPr/>
        </p:nvSpPr>
        <p:spPr>
          <a:xfrm>
            <a:off x="1137222" y="3986529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97" name="Google Shape;497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617" y="4081579"/>
            <a:ext cx="843400" cy="843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498" name="Google Shape;498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4972" y="1897784"/>
            <a:ext cx="4847361" cy="67396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499" name="Google Shape;499;p42"/>
          <p:cNvSpPr txBox="1"/>
          <p:nvPr/>
        </p:nvSpPr>
        <p:spPr>
          <a:xfrm>
            <a:off x="2083323" y="4002758"/>
            <a:ext cx="591376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muscle strength was significant, we’d expect that people with a higher muscle strength would have a higher performance.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observed that there is no visible general pattern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Visualization of Performance, Muscle Strength, and Mental Factors in Swim Data</a:t>
            </a:r>
            <a:endParaRPr/>
          </a:p>
        </p:txBody>
      </p:sp>
      <p:pic>
        <p:nvPicPr>
          <p:cNvPr id="505" name="Google Shape;505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555" y="1251295"/>
            <a:ext cx="3561749" cy="2483239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506" name="Google Shape;506;p43"/>
          <p:cNvSpPr/>
          <p:nvPr/>
        </p:nvSpPr>
        <p:spPr>
          <a:xfrm>
            <a:off x="1137222" y="3986529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07" name="Google Shape;507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7222" y="3986529"/>
            <a:ext cx="903245" cy="103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508" name="Google Shape;508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24838" y="1982398"/>
            <a:ext cx="4769638" cy="589352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3"/>
          <p:cNvSpPr txBox="1"/>
          <p:nvPr/>
        </p:nvSpPr>
        <p:spPr>
          <a:xfrm>
            <a:off x="2167467" y="4089400"/>
            <a:ext cx="5588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observed a positive slope which could indicates that higher strength is associated with better performance.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Thus, when muscle strength increases performance has a gradual increase.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4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Analyzing Performance, Fitness, and Endurance Metrics in Swimmers</a:t>
            </a:r>
            <a:endParaRPr/>
          </a:p>
        </p:txBody>
      </p:sp>
      <p:pic>
        <p:nvPicPr>
          <p:cNvPr id="515" name="Google Shape;51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143" y="898284"/>
            <a:ext cx="3887590" cy="2825919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516" name="Google Shape;516;p44"/>
          <p:cNvSpPr/>
          <p:nvPr/>
        </p:nvSpPr>
        <p:spPr>
          <a:xfrm>
            <a:off x="1137222" y="3986529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	From this graph we can clearly see that there is a positive correlation between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fitness and performance. If an individual has a high fitness level,chances are his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/her performances are higher</a:t>
            </a:r>
            <a:endParaRPr/>
          </a:p>
        </p:txBody>
      </p:sp>
      <p:pic>
        <p:nvPicPr>
          <p:cNvPr id="517" name="Google Shape;51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7222" y="3994996"/>
            <a:ext cx="903245" cy="103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518" name="Google Shape;518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45897" y="1726397"/>
            <a:ext cx="4153625" cy="1270708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5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Analyzing Performance, Fitness, and Endurance Metrics in Swimmers</a:t>
            </a:r>
            <a:endParaRPr/>
          </a:p>
        </p:txBody>
      </p:sp>
      <p:pic>
        <p:nvPicPr>
          <p:cNvPr id="524" name="Google Shape;52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222" y="833195"/>
            <a:ext cx="2813025" cy="300220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525" name="Google Shape;525;p45"/>
          <p:cNvSpPr/>
          <p:nvPr/>
        </p:nvSpPr>
        <p:spPr>
          <a:xfrm>
            <a:off x="1137222" y="3986529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The linear model plot shows a positive relationship.The slope of the regression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line indicates a strong relationship.. 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26" name="Google Shape;526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5735" y="1882236"/>
            <a:ext cx="4872951" cy="689514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527" name="Google Shape;527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3422" y="3986529"/>
            <a:ext cx="903245" cy="103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6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Analyzing Performance, Fitness, and Endurance Metrics in Swimmers</a:t>
            </a:r>
            <a:endParaRPr/>
          </a:p>
        </p:txBody>
      </p:sp>
      <p:pic>
        <p:nvPicPr>
          <p:cNvPr id="533" name="Google Shape;53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869" y="1028336"/>
            <a:ext cx="3551598" cy="2575961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534" name="Google Shape;534;p46"/>
          <p:cNvSpPr/>
          <p:nvPr/>
        </p:nvSpPr>
        <p:spPr>
          <a:xfrm>
            <a:off x="1137222" y="3986529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An upward trend in this scatter plot suggests that higher lactate thresholds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are beneficial in improving performance,as there is a strong relatiosnhip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35" name="Google Shape;535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3422" y="3986529"/>
            <a:ext cx="903245" cy="103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536" name="Google Shape;536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1334" y="1554059"/>
            <a:ext cx="5172797" cy="1476581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7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Analyzing Performance, Fitness, and Endurance Metrics in Swimmers</a:t>
            </a:r>
            <a:endParaRPr/>
          </a:p>
        </p:txBody>
      </p:sp>
      <p:pic>
        <p:nvPicPr>
          <p:cNvPr id="542" name="Google Shape;542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158" y="898982"/>
            <a:ext cx="2956085" cy="30301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543" name="Google Shape;543;p47"/>
          <p:cNvSpPr/>
          <p:nvPr/>
        </p:nvSpPr>
        <p:spPr>
          <a:xfrm>
            <a:off x="1137222" y="3986529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The regression line’s slope will indicate how performance is expected to change 	with varying lactate thresholds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As performance increases ,lactate threshold increases too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44" name="Google Shape;544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50733" y="1832435"/>
            <a:ext cx="5327953" cy="73931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545" name="Google Shape;545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7222" y="3994996"/>
            <a:ext cx="903245" cy="103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8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Analyzing Performance, Fitness, and Endurance Metrics in Swimmers</a:t>
            </a:r>
            <a:endParaRPr/>
          </a:p>
        </p:txBody>
      </p:sp>
      <p:pic>
        <p:nvPicPr>
          <p:cNvPr id="551" name="Google Shape;551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098" y="916801"/>
            <a:ext cx="4008103" cy="2918599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552" name="Google Shape;552;p48"/>
          <p:cNvSpPr/>
          <p:nvPr/>
        </p:nvSpPr>
        <p:spPr>
          <a:xfrm>
            <a:off x="1137222" y="3986529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The spread of each boxplot indicates the variability in performance at each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fitness levels,while the median shows central tendency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We can see that group 3 displays higher fitness levels in correlation to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performance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53" name="Google Shape;553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6770" y="1898089"/>
            <a:ext cx="4590132" cy="956022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554" name="Google Shape;554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7222" y="4026629"/>
            <a:ext cx="953300" cy="9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9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Analyzing Performance, Fitness, and Endurance Metrics in Swimmers</a:t>
            </a:r>
            <a:endParaRPr/>
          </a:p>
        </p:txBody>
      </p:sp>
      <p:pic>
        <p:nvPicPr>
          <p:cNvPr id="560" name="Google Shape;560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854" y="999300"/>
            <a:ext cx="3722007" cy="27265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561" name="Google Shape;561;p49"/>
          <p:cNvSpPr/>
          <p:nvPr/>
        </p:nvSpPr>
        <p:spPr>
          <a:xfrm>
            <a:off x="1137222" y="3986529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This boxplot highlights differences in lactate threshold based on both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endurance and fitness level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The fitness levels also increase as the endurance level increases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62" name="Google Shape;562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665" y="1538249"/>
            <a:ext cx="4970021" cy="1033501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563" name="Google Shape;563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7222" y="4026629"/>
            <a:ext cx="953300" cy="9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447" y="846950"/>
            <a:ext cx="4034181" cy="3005384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569" name="Google Shape;569;p50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Analyzing Performance, Fitness, and Endurance Metrics in Swimmers</a:t>
            </a:r>
            <a:endParaRPr/>
          </a:p>
        </p:txBody>
      </p:sp>
      <p:sp>
        <p:nvSpPr>
          <p:cNvPr id="570" name="Google Shape;570;p50"/>
          <p:cNvSpPr/>
          <p:nvPr/>
        </p:nvSpPr>
        <p:spPr>
          <a:xfrm>
            <a:off x="1137222" y="3986529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This boxplot shows a summarised version of the graph above as it depicts that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the fitness level increases as lactate threshold increases as well</a:t>
            </a: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71" name="Google Shape;571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1132" y="1820627"/>
            <a:ext cx="4529669" cy="89203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572" name="Google Shape;572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7222" y="4026629"/>
            <a:ext cx="953300" cy="9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1"/>
          <p:cNvSpPr txBox="1">
            <a:spLocks noGrp="1"/>
          </p:cNvSpPr>
          <p:nvPr>
            <p:ph type="title"/>
          </p:nvPr>
        </p:nvSpPr>
        <p:spPr>
          <a:xfrm>
            <a:off x="1001722" y="0"/>
            <a:ext cx="8076964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1: Analyzing Performance, Fitness, and Endurance Metrics in Swimmers</a:t>
            </a:r>
            <a:endParaRPr/>
          </a:p>
        </p:txBody>
      </p:sp>
      <p:pic>
        <p:nvPicPr>
          <p:cNvPr id="578" name="Google Shape;57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658" y="916802"/>
            <a:ext cx="4014076" cy="2827574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579" name="Google Shape;579;p51"/>
          <p:cNvSpPr/>
          <p:nvPr/>
        </p:nvSpPr>
        <p:spPr>
          <a:xfrm>
            <a:off x="1137222" y="3986529"/>
            <a:ext cx="6869556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Lactate is produced by the body to remove carbon dioxide from the blood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The more oxygen a person can inhale,the more carbon dioxide is replaced..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When the breathing rate cant replace co2 fast enough ,lactate starts to forn,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	hence a higher oxygen intake dicates a higher lactate threshold ..</a:t>
            </a:r>
            <a:endParaRPr/>
          </a:p>
        </p:txBody>
      </p:sp>
      <p:pic>
        <p:nvPicPr>
          <p:cNvPr id="580" name="Google Shape;580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4903" y="1807417"/>
            <a:ext cx="4581629" cy="10335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581" name="Google Shape;581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7222" y="4026629"/>
            <a:ext cx="953300" cy="9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2"/>
          <p:cNvSpPr txBox="1">
            <a:spLocks noGrp="1"/>
          </p:cNvSpPr>
          <p:nvPr>
            <p:ph type="title"/>
          </p:nvPr>
        </p:nvSpPr>
        <p:spPr>
          <a:xfrm>
            <a:off x="1303800" y="205750"/>
            <a:ext cx="7030500" cy="8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2 – Hypothesis Testing: Psychological Factors and Performance</a:t>
            </a:r>
            <a:endParaRPr/>
          </a:p>
        </p:txBody>
      </p:sp>
      <p:sp>
        <p:nvSpPr>
          <p:cNvPr id="587" name="Google Shape;587;p52"/>
          <p:cNvSpPr/>
          <p:nvPr/>
        </p:nvSpPr>
        <p:spPr>
          <a:xfrm>
            <a:off x="370575" y="3998950"/>
            <a:ext cx="8500800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8" name="Google Shape;588;p52"/>
          <p:cNvSpPr/>
          <p:nvPr/>
        </p:nvSpPr>
        <p:spPr>
          <a:xfrm>
            <a:off x="370575" y="1215475"/>
            <a:ext cx="8500800" cy="261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9" name="Google Shape;589;p52"/>
          <p:cNvSpPr txBox="1"/>
          <p:nvPr/>
        </p:nvSpPr>
        <p:spPr>
          <a:xfrm>
            <a:off x="496575" y="1304300"/>
            <a:ext cx="3023700" cy="2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Hypothesis</a:t>
            </a:r>
            <a:r>
              <a:rPr lang="en" sz="9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9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en" sz="9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Null Hypothesis (H₀)</a:t>
            </a:r>
            <a:r>
              <a:rPr lang="en" sz="9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Psychological factors have no significant effect on performance.</a:t>
            </a:r>
            <a:endParaRPr sz="9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en" sz="9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Alternative Hypothesis (H₁)</a:t>
            </a:r>
            <a:r>
              <a:rPr lang="en" sz="9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Psychological factors affect performance.</a:t>
            </a:r>
            <a:endParaRPr sz="11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Test</a:t>
            </a:r>
            <a:r>
              <a:rPr lang="en" sz="10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Chi-square test for dependency.</a:t>
            </a: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Results</a:t>
            </a:r>
            <a:r>
              <a:rPr lang="en" sz="10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No significant relationship between psychological factors and performance (p-value = 0.502).</a:t>
            </a: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0" name="Google Shape;590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6275" y="1267350"/>
            <a:ext cx="326100" cy="326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591" name="Google Shape;591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5775" y="1526275"/>
            <a:ext cx="1985275" cy="1991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cxnSp>
        <p:nvCxnSpPr>
          <p:cNvPr id="592" name="Google Shape;592;p52"/>
          <p:cNvCxnSpPr>
            <a:stCxn id="587" idx="0"/>
            <a:endCxn id="587" idx="2"/>
          </p:cNvCxnSpPr>
          <p:nvPr/>
        </p:nvCxnSpPr>
        <p:spPr>
          <a:xfrm>
            <a:off x="4620975" y="3998950"/>
            <a:ext cx="0" cy="103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cxnSp>
      <p:sp>
        <p:nvSpPr>
          <p:cNvPr id="593" name="Google Shape;593;p52"/>
          <p:cNvSpPr txBox="1"/>
          <p:nvPr/>
        </p:nvSpPr>
        <p:spPr>
          <a:xfrm>
            <a:off x="4417175" y="1267350"/>
            <a:ext cx="10674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graphs</a:t>
            </a:r>
            <a:r>
              <a:rPr lang="en" sz="9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1300" b="0" i="0" u="none" strike="noStrike" cap="non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94" name="Google Shape;594;p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7075" y="4096000"/>
            <a:ext cx="839400" cy="839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595" name="Google Shape;595;p5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32375" y="4189600"/>
            <a:ext cx="652200" cy="652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596" name="Google Shape;596;p5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7437" y="1492594"/>
            <a:ext cx="2385388" cy="20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52"/>
          <p:cNvSpPr txBox="1"/>
          <p:nvPr/>
        </p:nvSpPr>
        <p:spPr>
          <a:xfrm>
            <a:off x="1820333" y="4096000"/>
            <a:ext cx="259684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graph shows that there is a weak correlation between performance and psychological factors..</a:t>
            </a:r>
            <a:endParaRPr/>
          </a:p>
        </p:txBody>
      </p:sp>
      <p:sp>
        <p:nvSpPr>
          <p:cNvPr id="598" name="Google Shape;598;p52"/>
          <p:cNvSpPr txBox="1"/>
          <p:nvPr/>
        </p:nvSpPr>
        <p:spPr>
          <a:xfrm>
            <a:off x="5484571" y="4076943"/>
            <a:ext cx="338679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the barplot we can deduce that there is no significant difference between the different performance levels.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2- Hypothesis Testing: Psychological Factors and Performance</a:t>
            </a:r>
            <a:endParaRPr/>
          </a:p>
        </p:txBody>
      </p:sp>
      <p:sp>
        <p:nvSpPr>
          <p:cNvPr id="604" name="Google Shape;604;p53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/>
          </a:p>
        </p:txBody>
      </p:sp>
      <p:pic>
        <p:nvPicPr>
          <p:cNvPr id="605" name="Google Shape;60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800" y="1717584"/>
            <a:ext cx="7716327" cy="3086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2- Hypothesis Testing: Psychological Factors and Performance</a:t>
            </a:r>
            <a:endParaRPr/>
          </a:p>
        </p:txBody>
      </p:sp>
      <p:pic>
        <p:nvPicPr>
          <p:cNvPr id="611" name="Google Shape;611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403" y="1597874"/>
            <a:ext cx="4851649" cy="3221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41116" y="1978684"/>
            <a:ext cx="3768165" cy="58471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4"/>
          <p:cNvSpPr/>
          <p:nvPr/>
        </p:nvSpPr>
        <p:spPr>
          <a:xfrm>
            <a:off x="5241116" y="2969610"/>
            <a:ext cx="3683481" cy="18750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14" name="Google Shape;614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0383" y="3020408"/>
            <a:ext cx="456951" cy="5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4"/>
          <p:cNvSpPr txBox="1"/>
          <p:nvPr/>
        </p:nvSpPr>
        <p:spPr>
          <a:xfrm>
            <a:off x="5757334" y="3020408"/>
            <a:ext cx="3031066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no significant difference in performance levesl between the different psychological levels..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can be observed by the overlapping boxplot..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2- Hypothesis Testing: Psychological Factors and Performance</a:t>
            </a:r>
            <a:endParaRPr/>
          </a:p>
        </p:txBody>
      </p:sp>
      <p:pic>
        <p:nvPicPr>
          <p:cNvPr id="621" name="Google Shape;621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882" y="1508038"/>
            <a:ext cx="4851649" cy="338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8293" y="1702068"/>
            <a:ext cx="3594668" cy="651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2- Hypothesis Testing: Psychological Factors and Performance</a:t>
            </a:r>
            <a:endParaRPr/>
          </a:p>
        </p:txBody>
      </p:sp>
      <p:pic>
        <p:nvPicPr>
          <p:cNvPr id="628" name="Google Shape;628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63" y="1597875"/>
            <a:ext cx="4858000" cy="342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2712" y="1781464"/>
            <a:ext cx="3800245" cy="790286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56"/>
          <p:cNvSpPr/>
          <p:nvPr/>
        </p:nvSpPr>
        <p:spPr>
          <a:xfrm>
            <a:off x="5239480" y="2935743"/>
            <a:ext cx="3683481" cy="18750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1" name="Google Shape;631;p56"/>
          <p:cNvSpPr txBox="1"/>
          <p:nvPr/>
        </p:nvSpPr>
        <p:spPr>
          <a:xfrm>
            <a:off x="5486400" y="3312463"/>
            <a:ext cx="3234267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significant difference can be assumed from observing the graph. There is a high correlation amongst the different Psychological Levels.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7"/>
          <p:cNvSpPr txBox="1">
            <a:spLocks noGrp="1"/>
          </p:cNvSpPr>
          <p:nvPr>
            <p:ph type="title"/>
          </p:nvPr>
        </p:nvSpPr>
        <p:spPr>
          <a:xfrm>
            <a:off x="1303800" y="205750"/>
            <a:ext cx="7030500" cy="8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2 – Hypothesis Testing: Gender and Performance</a:t>
            </a:r>
            <a:endParaRPr/>
          </a:p>
        </p:txBody>
      </p:sp>
      <p:sp>
        <p:nvSpPr>
          <p:cNvPr id="637" name="Google Shape;637;p57"/>
          <p:cNvSpPr/>
          <p:nvPr/>
        </p:nvSpPr>
        <p:spPr>
          <a:xfrm>
            <a:off x="155775" y="3998950"/>
            <a:ext cx="8878800" cy="103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8" name="Google Shape;638;p57"/>
          <p:cNvSpPr/>
          <p:nvPr/>
        </p:nvSpPr>
        <p:spPr>
          <a:xfrm>
            <a:off x="155650" y="1045150"/>
            <a:ext cx="8878800" cy="284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9" name="Google Shape;639;p57"/>
          <p:cNvSpPr txBox="1"/>
          <p:nvPr/>
        </p:nvSpPr>
        <p:spPr>
          <a:xfrm>
            <a:off x="415150" y="1045150"/>
            <a:ext cx="4276200" cy="26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Hypothesis</a:t>
            </a:r>
            <a:r>
              <a:rPr lang="en" sz="9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9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en" sz="9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Null Hypothesis (H₀)</a:t>
            </a:r>
            <a:r>
              <a:rPr lang="en" sz="9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There is no significant difference in performance between male and female athletes..</a:t>
            </a:r>
            <a:endParaRPr sz="9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lang="en" sz="9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Alternative Hypothesis (H₁)</a:t>
            </a:r>
            <a:r>
              <a:rPr lang="en" sz="9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There is a significant difference in performance between male and female athletes.</a:t>
            </a:r>
            <a:endParaRPr sz="11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Tests</a:t>
            </a:r>
            <a:r>
              <a:rPr lang="en" sz="10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  </a:t>
            </a:r>
            <a:r>
              <a:rPr lang="en" sz="10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Shapiro-Wilk Test</a:t>
            </a:r>
            <a:r>
              <a:rPr lang="en" sz="10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Tested for normal distribution.</a:t>
            </a: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Levene’s Test</a:t>
            </a:r>
            <a:r>
              <a:rPr lang="en" sz="10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Tested for equality of variances.</a:t>
            </a: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t-test</a:t>
            </a:r>
            <a:r>
              <a:rPr lang="en" sz="10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Compared the means of male and female performance.</a:t>
            </a: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Results</a:t>
            </a:r>
            <a:r>
              <a:rPr lang="en" sz="10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0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Shapiro-Wilk Test</a:t>
            </a:r>
            <a:r>
              <a:rPr lang="en" sz="10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Data is normally distributed (p = 0.122).</a:t>
            </a: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Levene’s Test</a:t>
            </a:r>
            <a:r>
              <a:rPr lang="en" sz="10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No significant difference in variances (p = 0.843).</a:t>
            </a: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t-test</a:t>
            </a:r>
            <a:r>
              <a:rPr lang="en" sz="10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No significant difference in performance between male and female athletes (p = 0.485).</a:t>
            </a: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0" name="Google Shape;640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3700" y="1045150"/>
            <a:ext cx="326100" cy="326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cxnSp>
        <p:nvCxnSpPr>
          <p:cNvPr id="641" name="Google Shape;641;p57"/>
          <p:cNvCxnSpPr>
            <a:stCxn id="637" idx="0"/>
            <a:endCxn id="637" idx="2"/>
          </p:cNvCxnSpPr>
          <p:nvPr/>
        </p:nvCxnSpPr>
        <p:spPr>
          <a:xfrm>
            <a:off x="4595175" y="3998950"/>
            <a:ext cx="0" cy="103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cxnSp>
      <p:sp>
        <p:nvSpPr>
          <p:cNvPr id="642" name="Google Shape;642;p57"/>
          <p:cNvSpPr txBox="1"/>
          <p:nvPr/>
        </p:nvSpPr>
        <p:spPr>
          <a:xfrm>
            <a:off x="4624775" y="1078750"/>
            <a:ext cx="10674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graphs</a:t>
            </a:r>
            <a:r>
              <a:rPr lang="en" sz="9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1300" b="0" i="0" u="none" strike="noStrike" cap="non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43" name="Google Shape;643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32375" y="4189600"/>
            <a:ext cx="652200" cy="652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644" name="Google Shape;644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1350" y="1337650"/>
            <a:ext cx="2212300" cy="151189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645" name="Google Shape;645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03650" y="2447300"/>
            <a:ext cx="2101149" cy="14439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646" name="Google Shape;646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9575" y="4077400"/>
            <a:ext cx="876600" cy="8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57"/>
          <p:cNvSpPr txBox="1"/>
          <p:nvPr/>
        </p:nvSpPr>
        <p:spPr>
          <a:xfrm>
            <a:off x="1363700" y="4189600"/>
            <a:ext cx="30643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boxes are overlapping which indicates there are similar performance levels among both genders</a:t>
            </a:r>
            <a:endParaRPr/>
          </a:p>
        </p:txBody>
      </p:sp>
      <p:sp>
        <p:nvSpPr>
          <p:cNvPr id="648" name="Google Shape;648;p57"/>
          <p:cNvSpPr txBox="1"/>
          <p:nvPr/>
        </p:nvSpPr>
        <p:spPr>
          <a:xfrm>
            <a:off x="5613400" y="4077400"/>
            <a:ext cx="30818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levels as observed are about the same for both genders.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2 – Hypothesis Testing: Gender and Performance</a:t>
            </a:r>
            <a:endParaRPr/>
          </a:p>
        </p:txBody>
      </p:sp>
      <p:pic>
        <p:nvPicPr>
          <p:cNvPr id="654" name="Google Shape;654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264" y="1597875"/>
            <a:ext cx="5014741" cy="150645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655" name="Google Shape;655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264" y="3354708"/>
            <a:ext cx="6081021" cy="132980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2 – Hypothesis Testing: Gender and Performance</a:t>
            </a:r>
            <a:endParaRPr/>
          </a:p>
        </p:txBody>
      </p:sp>
      <p:pic>
        <p:nvPicPr>
          <p:cNvPr id="661" name="Google Shape;66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800" y="1973721"/>
            <a:ext cx="6706536" cy="247684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2 – Hypothesis Testing: Gender and Performance</a:t>
            </a:r>
            <a:endParaRPr/>
          </a:p>
        </p:txBody>
      </p:sp>
      <p:sp>
        <p:nvSpPr>
          <p:cNvPr id="667" name="Google Shape;667;p60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/>
          </a:p>
        </p:txBody>
      </p:sp>
      <p:pic>
        <p:nvPicPr>
          <p:cNvPr id="668" name="Google Shape;668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334" y="1597875"/>
            <a:ext cx="7573432" cy="304842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1"/>
          <p:cNvSpPr txBox="1">
            <a:spLocks noGrp="1"/>
          </p:cNvSpPr>
          <p:nvPr>
            <p:ph type="title"/>
          </p:nvPr>
        </p:nvSpPr>
        <p:spPr>
          <a:xfrm>
            <a:off x="1303800" y="205750"/>
            <a:ext cx="7030500" cy="8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Phase 2 – Conclusion</a:t>
            </a:r>
            <a:endParaRPr/>
          </a:p>
        </p:txBody>
      </p:sp>
      <p:sp>
        <p:nvSpPr>
          <p:cNvPr id="674" name="Google Shape;674;p61"/>
          <p:cNvSpPr/>
          <p:nvPr/>
        </p:nvSpPr>
        <p:spPr>
          <a:xfrm>
            <a:off x="155650" y="1045150"/>
            <a:ext cx="8878800" cy="284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675" name="Google Shape;675;p61"/>
          <p:cNvGraphicFramePr/>
          <p:nvPr/>
        </p:nvGraphicFramePr>
        <p:xfrm>
          <a:off x="155750" y="1045125"/>
          <a:ext cx="8878750" cy="2967825"/>
        </p:xfrm>
        <a:graphic>
          <a:graphicData uri="http://schemas.openxmlformats.org/drawingml/2006/table">
            <a:tbl>
              <a:tblPr firstRow="1">
                <a:gradFill>
                  <a:gsLst>
                    <a:gs pos="0">
                      <a:srgbClr val="17179A"/>
                    </a:gs>
                    <a:gs pos="100000">
                      <a:srgbClr val="A2A2E8"/>
                    </a:gs>
                  </a:gsLst>
                  <a:lin ang="16200000" scaled="0"/>
                </a:gradFill>
                <a:tableStyleId>{3509BC99-8FEE-466E-8CD9-AA7E51CDB69E}</a:tableStyleId>
              </a:tblPr>
              <a:tblGrid>
                <a:gridCol w="177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Test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Variable Tested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Test Type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p-value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Conclusion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Psychological Factors Test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Psychological Factors (x23)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Chi-Square Test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0.502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No significant relationship between psychological factors and performance.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Gender Test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Gender (Male vs. Female)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t-test (Two-Sample)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0.485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No significant difference in performance between male and female athletes.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Normality Test (Gender)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Gender (Male &amp; Female Data)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Shapiro-Wilk Test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0.122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The performance data is normally distributed.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Variance Test (Gender)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Gender (Male vs. Female)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Levene's Test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0.843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Variances are equal (homoskedastic).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08C6F-57F6-5EDD-E655-225D8895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Phase 3-4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9983E-6B87-8FEA-F29A-69E1D43EE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46050" indent="0">
              <a:buNone/>
            </a:pPr>
            <a:r>
              <a:rPr lang="en-ZA" sz="2800" b="1" dirty="0">
                <a:solidFill>
                  <a:schemeClr val="bg1"/>
                </a:solidFill>
              </a:rPr>
              <a:t>Sections</a:t>
            </a:r>
          </a:p>
          <a:p>
            <a:pPr marL="146050" indent="0">
              <a:buNone/>
            </a:pPr>
            <a:r>
              <a:rPr lang="en-ZA" sz="2800" b="1" dirty="0">
                <a:solidFill>
                  <a:schemeClr val="bg1"/>
                </a:solidFill>
              </a:rPr>
              <a:t>Unathi Manana: 43-46</a:t>
            </a:r>
          </a:p>
          <a:p>
            <a:pPr marL="146050" indent="0">
              <a:buNone/>
            </a:pPr>
            <a:r>
              <a:rPr lang="en-ZA" sz="2800" b="1" dirty="0">
                <a:solidFill>
                  <a:schemeClr val="bg1"/>
                </a:solidFill>
              </a:rPr>
              <a:t>Neo </a:t>
            </a:r>
            <a:r>
              <a:rPr lang="en-ZA" sz="2800" b="1" dirty="0" err="1">
                <a:solidFill>
                  <a:schemeClr val="bg1"/>
                </a:solidFill>
              </a:rPr>
              <a:t>Zandamela</a:t>
            </a:r>
            <a:r>
              <a:rPr lang="en-ZA" sz="2800" b="1" dirty="0">
                <a:solidFill>
                  <a:schemeClr val="bg1"/>
                </a:solidFill>
              </a:rPr>
              <a:t>: 47-53</a:t>
            </a:r>
          </a:p>
          <a:p>
            <a:pPr marL="146050" indent="0">
              <a:buNone/>
            </a:pPr>
            <a:r>
              <a:rPr lang="en-ZA" sz="2800" b="1" dirty="0">
                <a:solidFill>
                  <a:schemeClr val="bg1"/>
                </a:solidFill>
              </a:rPr>
              <a:t>Tafara Kanyemba: 40-42, 54-62</a:t>
            </a:r>
          </a:p>
          <a:p>
            <a:pPr marL="146050" indent="0">
              <a:buNone/>
            </a:pPr>
            <a:r>
              <a:rPr lang="en-ZA" sz="2800" b="1" dirty="0">
                <a:solidFill>
                  <a:schemeClr val="bg1"/>
                </a:solidFill>
              </a:rPr>
              <a:t>Everyone : 63-64  </a:t>
            </a:r>
          </a:p>
        </p:txBody>
      </p:sp>
    </p:spTree>
    <p:extLst>
      <p:ext uri="{BB962C8B-B14F-4D97-AF65-F5344CB8AC3E}">
        <p14:creationId xmlns:p14="http://schemas.microsoft.com/office/powerpoint/2010/main" val="24262553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3</a:t>
            </a:r>
            <a:br>
              <a:rPr lang="en"/>
            </a:br>
            <a:r>
              <a:rPr lang="en"/>
              <a:t>Regression Model For Swimming</a:t>
            </a:r>
            <a:endParaRPr/>
          </a:p>
        </p:txBody>
      </p:sp>
      <p:sp>
        <p:nvSpPr>
          <p:cNvPr id="681" name="Google Shape;681;p62"/>
          <p:cNvSpPr txBox="1">
            <a:spLocks noGrp="1"/>
          </p:cNvSpPr>
          <p:nvPr>
            <p:ph type="body" idx="1"/>
          </p:nvPr>
        </p:nvSpPr>
        <p:spPr>
          <a:xfrm>
            <a:off x="84601" y="1754909"/>
            <a:ext cx="2714018" cy="3132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000" b="1">
                <a:solidFill>
                  <a:schemeClr val="lt1"/>
                </a:solidFill>
              </a:rPr>
              <a:t>Exploring how to model the performance of swimmers on various factors</a:t>
            </a:r>
            <a:endParaRPr sz="2000" b="1">
              <a:solidFill>
                <a:schemeClr val="lt1"/>
              </a:solidFill>
            </a:endParaRPr>
          </a:p>
        </p:txBody>
      </p:sp>
      <p:pic>
        <p:nvPicPr>
          <p:cNvPr id="682" name="Google Shape;68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4079" y="246678"/>
            <a:ext cx="577975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Phase 3: Preparing the model</a:t>
            </a:r>
            <a:endParaRPr/>
          </a:p>
        </p:txBody>
      </p:sp>
      <p:sp>
        <p:nvSpPr>
          <p:cNvPr id="688" name="Google Shape;688;p63"/>
          <p:cNvSpPr txBox="1">
            <a:spLocks noGrp="1"/>
          </p:cNvSpPr>
          <p:nvPr>
            <p:ph type="body" idx="1"/>
          </p:nvPr>
        </p:nvSpPr>
        <p:spPr>
          <a:xfrm>
            <a:off x="92364" y="1102265"/>
            <a:ext cx="4348854" cy="495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200">
                <a:solidFill>
                  <a:schemeClr val="lt1"/>
                </a:solidFill>
              </a:rPr>
              <a:t>Start by joining all the columns (explanatory variables) together.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689" name="Google Shape;689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800" y="1944539"/>
            <a:ext cx="7670510" cy="12142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0" name="Google Shape;690;p63"/>
          <p:cNvCxnSpPr>
            <a:stCxn id="689" idx="1"/>
          </p:cNvCxnSpPr>
          <p:nvPr/>
        </p:nvCxnSpPr>
        <p:spPr>
          <a:xfrm rot="10800000">
            <a:off x="387900" y="1330088"/>
            <a:ext cx="915900" cy="1221600"/>
          </a:xfrm>
          <a:prstGeom prst="straightConnector1">
            <a:avLst/>
          </a:prstGeom>
          <a:noFill/>
          <a:ln w="9525" cap="flat" cmpd="sng">
            <a:solidFill>
              <a:srgbClr val="076173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Phase 3: Model selection</a:t>
            </a:r>
            <a:endParaRPr/>
          </a:p>
        </p:txBody>
      </p:sp>
      <p:sp>
        <p:nvSpPr>
          <p:cNvPr id="696" name="Google Shape;696;p64"/>
          <p:cNvSpPr txBox="1">
            <a:spLocks noGrp="1"/>
          </p:cNvSpPr>
          <p:nvPr>
            <p:ph type="body" idx="1"/>
          </p:nvPr>
        </p:nvSpPr>
        <p:spPr>
          <a:xfrm>
            <a:off x="5975926" y="1464829"/>
            <a:ext cx="2789383" cy="2080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Gender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x07 (Body align.)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X09 (decision-making)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X11 (endurance)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X16 (lactate threshold)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X20 (Muscle strength)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X21 (pattern recognition)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X28 (technical skills)</a:t>
            </a:r>
            <a:endParaRPr/>
          </a:p>
        </p:txBody>
      </p:sp>
      <p:pic>
        <p:nvPicPr>
          <p:cNvPr id="697" name="Google Shape;697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350" y="1464830"/>
            <a:ext cx="4852604" cy="336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Phase 3: Model Selection</a:t>
            </a:r>
            <a:endParaRPr/>
          </a:p>
        </p:txBody>
      </p:sp>
      <p:sp>
        <p:nvSpPr>
          <p:cNvPr id="703" name="Google Shape;703;p65"/>
          <p:cNvSpPr txBox="1">
            <a:spLocks noGrp="1"/>
          </p:cNvSpPr>
          <p:nvPr>
            <p:ph type="body" idx="1"/>
          </p:nvPr>
        </p:nvSpPr>
        <p:spPr>
          <a:xfrm>
            <a:off x="1488999" y="3545626"/>
            <a:ext cx="6125651" cy="34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>
                <a:solidFill>
                  <a:schemeClr val="lt1"/>
                </a:solidFill>
              </a:rPr>
              <a:t>Why are these the variables which are most significant?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704" name="Google Shape;704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800" y="1527464"/>
            <a:ext cx="649605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5"/>
          <p:cNvSpPr txBox="1">
            <a:spLocks noGrp="1"/>
          </p:cNvSpPr>
          <p:nvPr>
            <p:ph type="title"/>
          </p:nvPr>
        </p:nvSpPr>
        <p:spPr>
          <a:xfrm>
            <a:off x="1056750" y="12122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Phase 3: MULTICOLLINEARITY (VIF)</a:t>
            </a:r>
            <a:endParaRPr/>
          </a:p>
        </p:txBody>
      </p:sp>
      <p:graphicFrame>
        <p:nvGraphicFramePr>
          <p:cNvPr id="790" name="Google Shape;790;p75"/>
          <p:cNvGraphicFramePr/>
          <p:nvPr/>
        </p:nvGraphicFramePr>
        <p:xfrm>
          <a:off x="2159000" y="812825"/>
          <a:ext cx="4826000" cy="3169680"/>
        </p:xfrm>
        <a:graphic>
          <a:graphicData uri="http://schemas.openxmlformats.org/drawingml/2006/table">
            <a:tbl>
              <a:tblPr>
                <a:noFill/>
                <a:tableStyleId>{CB6DC356-8BA7-49C3-87EA-7142B15509C8}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Variable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VIF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Gender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1.0215222801418362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Body alignment and posture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1.0259303428608404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Endurance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1.0339099082436223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Lactate threshold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8.128892586549428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Muscle strength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8.211090221402822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Pattern recognition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1.0490855853156578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Technical skills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1.0332784347093886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91" name="Google Shape;791;p75"/>
          <p:cNvSpPr/>
          <p:nvPr/>
        </p:nvSpPr>
        <p:spPr>
          <a:xfrm>
            <a:off x="1007050" y="4213250"/>
            <a:ext cx="7603500" cy="75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92" name="Google Shape;79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700" y="4376250"/>
            <a:ext cx="426100" cy="4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5"/>
          <p:cNvSpPr txBox="1"/>
          <p:nvPr/>
        </p:nvSpPr>
        <p:spPr>
          <a:xfrm>
            <a:off x="1722675" y="4305200"/>
            <a:ext cx="66264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17179A"/>
                </a:solidFill>
                <a:latin typeface="Nunito"/>
                <a:ea typeface="Nunito"/>
                <a:cs typeface="Nunito"/>
                <a:sym typeface="Nunito"/>
              </a:rPr>
              <a:t>None of the VIF values are greater than 100 indicating that there is NO MULTICOLLINEARITY problem. </a:t>
            </a:r>
            <a:endParaRPr sz="1300" b="1">
              <a:solidFill>
                <a:srgbClr val="17179A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Phase 3: NORMALITY TESTS (graphical)</a:t>
            </a:r>
            <a:endParaRPr/>
          </a:p>
        </p:txBody>
      </p:sp>
      <p:pic>
        <p:nvPicPr>
          <p:cNvPr id="799" name="Google Shape;79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588" y="1231900"/>
            <a:ext cx="4474273" cy="32408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  <a:reflection stA="20000" endPos="30000" dist="85725" dir="5400000" fadeDir="5400012" sy="-100000" algn="bl" rotWithShape="0"/>
          </a:effectLst>
        </p:spPr>
      </p:pic>
      <p:sp>
        <p:nvSpPr>
          <p:cNvPr id="800" name="Google Shape;800;p76"/>
          <p:cNvSpPr/>
          <p:nvPr/>
        </p:nvSpPr>
        <p:spPr>
          <a:xfrm>
            <a:off x="5521650" y="1264525"/>
            <a:ext cx="2876700" cy="320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1" name="Google Shape;801;p76"/>
          <p:cNvSpPr txBox="1"/>
          <p:nvPr/>
        </p:nvSpPr>
        <p:spPr>
          <a:xfrm>
            <a:off x="5635400" y="1361400"/>
            <a:ext cx="26331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Observation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Very few observations lie on the straight line.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2" name="Google Shape;802;p76"/>
          <p:cNvSpPr txBox="1"/>
          <p:nvPr/>
        </p:nvSpPr>
        <p:spPr>
          <a:xfrm>
            <a:off x="5635400" y="3300425"/>
            <a:ext cx="2173800" cy="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Interpretation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We can’t fully deduce if Normal or Not.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Phase 3: NORMALITY TESTS (graphical)</a:t>
            </a:r>
            <a:endParaRPr/>
          </a:p>
        </p:txBody>
      </p:sp>
      <p:sp>
        <p:nvSpPr>
          <p:cNvPr id="808" name="Google Shape;808;p77"/>
          <p:cNvSpPr/>
          <p:nvPr/>
        </p:nvSpPr>
        <p:spPr>
          <a:xfrm>
            <a:off x="5521650" y="1264525"/>
            <a:ext cx="2876700" cy="320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09" name="Google Shape;80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075" y="1264525"/>
            <a:ext cx="5200014" cy="32408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  <a:reflection stA="20000" endPos="30000" dist="38100" dir="5400000" fadeDir="5400012" sy="-100000" algn="bl" rotWithShape="0"/>
          </a:effectLst>
        </p:spPr>
      </p:pic>
      <p:sp>
        <p:nvSpPr>
          <p:cNvPr id="810" name="Google Shape;810;p77"/>
          <p:cNvSpPr txBox="1"/>
          <p:nvPr/>
        </p:nvSpPr>
        <p:spPr>
          <a:xfrm>
            <a:off x="5625200" y="1361400"/>
            <a:ext cx="2653500" cy="30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12121"/>
                </a:solidFill>
                <a:latin typeface="Nunito"/>
                <a:ea typeface="Nunito"/>
                <a:cs typeface="Nunito"/>
                <a:sym typeface="Nunito"/>
              </a:rPr>
              <a:t>Deviations from Normality can be observed, but it overall the residuals appear to be </a:t>
            </a:r>
            <a:r>
              <a:rPr lang="en" sz="1300" i="1">
                <a:solidFill>
                  <a:srgbClr val="212121"/>
                </a:solidFill>
                <a:latin typeface="Nunito"/>
                <a:ea typeface="Nunito"/>
                <a:cs typeface="Nunito"/>
                <a:sym typeface="Nunito"/>
              </a:rPr>
              <a:t>approximately</a:t>
            </a:r>
            <a:r>
              <a:rPr lang="en" sz="1300">
                <a:solidFill>
                  <a:srgbClr val="21212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3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Normally Distributed</a:t>
            </a:r>
            <a:r>
              <a:rPr lang="en" sz="1300">
                <a:solidFill>
                  <a:srgbClr val="21212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300">
              <a:solidFill>
                <a:srgbClr val="21212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1212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rgbClr val="212121"/>
                </a:solidFill>
                <a:latin typeface="Nunito"/>
                <a:ea typeface="Nunito"/>
                <a:cs typeface="Nunito"/>
                <a:sym typeface="Nunito"/>
              </a:rPr>
              <a:t>Closely observe the KDE and Normal Distribution curve !</a:t>
            </a:r>
            <a:endParaRPr sz="1300" i="1">
              <a:solidFill>
                <a:srgbClr val="21212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Phase 3: NORMALITY TESTS (formal)</a:t>
            </a:r>
            <a:endParaRPr/>
          </a:p>
        </p:txBody>
      </p:sp>
      <p:sp>
        <p:nvSpPr>
          <p:cNvPr id="816" name="Google Shape;816;p78"/>
          <p:cNvSpPr/>
          <p:nvPr/>
        </p:nvSpPr>
        <p:spPr>
          <a:xfrm>
            <a:off x="1303752" y="1183212"/>
            <a:ext cx="6830255" cy="317162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7" name="Google Shape;817;p78"/>
          <p:cNvSpPr txBox="1"/>
          <p:nvPr/>
        </p:nvSpPr>
        <p:spPr>
          <a:xfrm>
            <a:off x="1430783" y="2772624"/>
            <a:ext cx="61899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Test Statistic: 0.9928886294364929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8" name="Google Shape;818;p78"/>
          <p:cNvSpPr txBox="1"/>
          <p:nvPr/>
        </p:nvSpPr>
        <p:spPr>
          <a:xfrm>
            <a:off x="1563450" y="1228725"/>
            <a:ext cx="4806600" cy="13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9" name="Google Shape;819;p78"/>
          <p:cNvSpPr txBox="1"/>
          <p:nvPr/>
        </p:nvSpPr>
        <p:spPr>
          <a:xfrm>
            <a:off x="1623925" y="1228725"/>
            <a:ext cx="5541600" cy="16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Test if the errors are normal at the 5% level of significance: </a:t>
            </a:r>
            <a:endParaRPr sz="1300">
              <a:solidFill>
                <a:schemeClr val="dk2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H0</a:t>
            </a:r>
            <a:r>
              <a:rPr lang="en" sz="130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 : errors are normal </a:t>
            </a:r>
            <a:endParaRPr sz="1300">
              <a:solidFill>
                <a:schemeClr val="dk2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HA</a:t>
            </a:r>
            <a:r>
              <a:rPr lang="en" sz="130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 : errors are non-normal </a:t>
            </a:r>
            <a:endParaRPr sz="1300">
              <a:solidFill>
                <a:schemeClr val="dk2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Reject H0 if </a:t>
            </a:r>
            <a:r>
              <a:rPr lang="en" sz="1300" b="1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p &lt; 0.05</a:t>
            </a:r>
            <a:r>
              <a:rPr lang="en" sz="130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300" i="1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p = 0.446 &gt; 0.05</a:t>
            </a:r>
            <a:r>
              <a:rPr lang="en" sz="130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, therefore don’t reject H0 . </a:t>
            </a:r>
            <a:endParaRPr sz="1300">
              <a:solidFill>
                <a:schemeClr val="dk2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It cannot be proved that the errors are non-normal, i.e. they can be assumed to be normal.</a:t>
            </a:r>
            <a:endParaRPr sz="1300">
              <a:solidFill>
                <a:schemeClr val="dk2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Phase 3: Diagnostic Measures</a:t>
            </a:r>
            <a:endParaRPr/>
          </a:p>
        </p:txBody>
      </p:sp>
      <p:pic>
        <p:nvPicPr>
          <p:cNvPr id="825" name="Google Shape;82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438" y="1597863"/>
            <a:ext cx="7515225" cy="21240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70000"/>
              </a:srgbClr>
            </a:outerShdw>
            <a:reflection stA="10000" endPos="30000" dist="38100" dir="5400000" fadeDir="5400012" sy="-100000" algn="bl" rotWithShape="0"/>
          </a:effectLst>
        </p:spPr>
      </p:pic>
      <p:sp>
        <p:nvSpPr>
          <p:cNvPr id="826" name="Google Shape;826;p79"/>
          <p:cNvSpPr/>
          <p:nvPr/>
        </p:nvSpPr>
        <p:spPr>
          <a:xfrm>
            <a:off x="1017300" y="4100575"/>
            <a:ext cx="7603500" cy="75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7" name="Google Shape;827;p79"/>
          <p:cNvSpPr txBox="1"/>
          <p:nvPr/>
        </p:nvSpPr>
        <p:spPr>
          <a:xfrm>
            <a:off x="1234650" y="4206175"/>
            <a:ext cx="71688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Table summarizes diagnostic statistics for various observations from our regression analysis, showing influential statistics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Phase 3: Diagnostic Measures</a:t>
            </a:r>
            <a:endParaRPr/>
          </a:p>
        </p:txBody>
      </p:sp>
      <p:sp>
        <p:nvSpPr>
          <p:cNvPr id="833" name="Google Shape;833;p80"/>
          <p:cNvSpPr/>
          <p:nvPr/>
        </p:nvSpPr>
        <p:spPr>
          <a:xfrm>
            <a:off x="4815775" y="1269400"/>
            <a:ext cx="3815400" cy="3342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34" name="Google Shape;83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950" y="1269400"/>
            <a:ext cx="3959775" cy="34254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stA="20000" endPos="30000" dist="38100" dir="5400000" fadeDir="5400012" sy="-100000" algn="bl" rotWithShape="0"/>
          </a:effectLst>
        </p:spPr>
      </p:pic>
      <p:sp>
        <p:nvSpPr>
          <p:cNvPr id="835" name="Google Shape;835;p80"/>
          <p:cNvSpPr txBox="1"/>
          <p:nvPr/>
        </p:nvSpPr>
        <p:spPr>
          <a:xfrm>
            <a:off x="4941425" y="1402225"/>
            <a:ext cx="3561600" cy="3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This table shows influential observations.  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The influential observations highlighted in this table indicate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3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points in the dataset that have a significant impact on the model's predictions</a:t>
            </a:r>
            <a:r>
              <a:rPr lang="en" sz="130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30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These observations may affect the model's estimates disproportionately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1"/>
          <p:cNvSpPr txBox="1">
            <a:spLocks noGrp="1"/>
          </p:cNvSpPr>
          <p:nvPr>
            <p:ph type="title"/>
          </p:nvPr>
        </p:nvSpPr>
        <p:spPr>
          <a:xfrm>
            <a:off x="1303800" y="8015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3: Heteroskedasticity Test (graphical)</a:t>
            </a:r>
            <a:endParaRPr/>
          </a:p>
        </p:txBody>
      </p:sp>
      <p:pic>
        <p:nvPicPr>
          <p:cNvPr id="841" name="Google Shape;84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625" y="865900"/>
            <a:ext cx="6144844" cy="32408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stA="20000" endPos="30000" dist="38100" dir="5400000" fadeDir="5400012" sy="-100000" algn="bl" rotWithShape="0"/>
          </a:effectLst>
        </p:spPr>
      </p:pic>
      <p:sp>
        <p:nvSpPr>
          <p:cNvPr id="842" name="Google Shape;842;p81"/>
          <p:cNvSpPr/>
          <p:nvPr/>
        </p:nvSpPr>
        <p:spPr>
          <a:xfrm>
            <a:off x="1017300" y="4222550"/>
            <a:ext cx="7603500" cy="75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43" name="Google Shape;843;p81"/>
          <p:cNvSpPr txBox="1"/>
          <p:nvPr/>
        </p:nvSpPr>
        <p:spPr>
          <a:xfrm>
            <a:off x="1757400" y="4222550"/>
            <a:ext cx="58170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Random scatter of points around the horizontal line, </a:t>
            </a:r>
            <a:r>
              <a:rPr lang="en" sz="130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indicates that the residuals are evenly distributed across all levels of the independent variable, suggesting homoscedasticity.</a:t>
            </a:r>
            <a:endParaRPr sz="130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2"/>
          <p:cNvSpPr txBox="1">
            <a:spLocks noGrp="1"/>
          </p:cNvSpPr>
          <p:nvPr>
            <p:ph type="title"/>
          </p:nvPr>
        </p:nvSpPr>
        <p:spPr>
          <a:xfrm>
            <a:off x="1303800" y="8015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3: Heteroskedasticity Test (graphical)</a:t>
            </a:r>
            <a:endParaRPr/>
          </a:p>
        </p:txBody>
      </p:sp>
      <p:sp>
        <p:nvSpPr>
          <p:cNvPr id="849" name="Google Shape;849;p82"/>
          <p:cNvSpPr/>
          <p:nvPr/>
        </p:nvSpPr>
        <p:spPr>
          <a:xfrm>
            <a:off x="1017300" y="4222550"/>
            <a:ext cx="7603500" cy="75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50" name="Google Shape;85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463" y="619525"/>
            <a:ext cx="4217175" cy="32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82"/>
          <p:cNvSpPr txBox="1"/>
          <p:nvPr/>
        </p:nvSpPr>
        <p:spPr>
          <a:xfrm>
            <a:off x="2114550" y="4310750"/>
            <a:ext cx="50619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Random scatter around the horizontal line at zero.</a:t>
            </a:r>
            <a:endParaRPr sz="130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3"/>
          <p:cNvSpPr txBox="1">
            <a:spLocks noGrp="1"/>
          </p:cNvSpPr>
          <p:nvPr>
            <p:ph type="title"/>
          </p:nvPr>
        </p:nvSpPr>
        <p:spPr>
          <a:xfrm>
            <a:off x="1303800" y="8015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3: Heteroskedasticity Test (formal)</a:t>
            </a:r>
            <a:endParaRPr/>
          </a:p>
        </p:txBody>
      </p:sp>
      <p:grpSp>
        <p:nvGrpSpPr>
          <p:cNvPr id="857" name="Google Shape;857;p83"/>
          <p:cNvGrpSpPr/>
          <p:nvPr/>
        </p:nvGrpSpPr>
        <p:grpSpPr>
          <a:xfrm>
            <a:off x="2558850" y="1295150"/>
            <a:ext cx="4026300" cy="2964600"/>
            <a:chOff x="741750" y="1295150"/>
            <a:chExt cx="4026300" cy="2964600"/>
          </a:xfrm>
        </p:grpSpPr>
        <p:sp>
          <p:nvSpPr>
            <p:cNvPr id="858" name="Google Shape;858;p83"/>
            <p:cNvSpPr/>
            <p:nvPr/>
          </p:nvSpPr>
          <p:spPr>
            <a:xfrm>
              <a:off x="741750" y="1295150"/>
              <a:ext cx="4026300" cy="2964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859" name="Google Shape;859;p83"/>
            <p:cNvSpPr txBox="1"/>
            <p:nvPr/>
          </p:nvSpPr>
          <p:spPr>
            <a:xfrm>
              <a:off x="741750" y="1295150"/>
              <a:ext cx="4026300" cy="22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chemeClr val="dk2"/>
                  </a:solidFill>
                  <a:highlight>
                    <a:schemeClr val="lt1"/>
                  </a:highlight>
                  <a:latin typeface="Nunito"/>
                  <a:ea typeface="Nunito"/>
                  <a:cs typeface="Nunito"/>
                  <a:sym typeface="Nunito"/>
                </a:rPr>
                <a:t>Test if the errors are homoscedastic at the 5% level of significance: </a:t>
              </a:r>
              <a:endParaRPr sz="1300" dirty="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chemeClr val="dk2"/>
                  </a:solidFill>
                  <a:highlight>
                    <a:schemeClr val="lt1"/>
                  </a:highlight>
                  <a:latin typeface="Nunito"/>
                  <a:ea typeface="Nunito"/>
                  <a:cs typeface="Nunito"/>
                  <a:sym typeface="Nunito"/>
                </a:rPr>
                <a:t>H0 : errors are homoskedastic </a:t>
              </a:r>
              <a:endParaRPr sz="1300" dirty="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chemeClr val="dk2"/>
                  </a:solidFill>
                  <a:highlight>
                    <a:schemeClr val="lt1"/>
                  </a:highlight>
                  <a:latin typeface="Nunito"/>
                  <a:ea typeface="Nunito"/>
                  <a:cs typeface="Nunito"/>
                  <a:sym typeface="Nunito"/>
                </a:rPr>
                <a:t>HA : errors are heteroskedastic </a:t>
              </a:r>
              <a:endParaRPr sz="1300" dirty="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chemeClr val="dk2"/>
                  </a:solidFill>
                  <a:highlight>
                    <a:schemeClr val="lt1"/>
                  </a:highlight>
                  <a:latin typeface="Nunito"/>
                  <a:ea typeface="Nunito"/>
                  <a:cs typeface="Nunito"/>
                  <a:sym typeface="Nunito"/>
                </a:rPr>
                <a:t>Reject H0 if p &lt; 0.05 p = </a:t>
              </a:r>
              <a:r>
                <a:rPr lang="en" dirty="0">
                  <a:highlight>
                    <a:schemeClr val="lt1"/>
                  </a:highlight>
                  <a:latin typeface="Nunito"/>
                  <a:ea typeface="Nunito"/>
                  <a:cs typeface="Nunito"/>
                  <a:sym typeface="Nunito"/>
                </a:rPr>
                <a:t>0.519</a:t>
              </a:r>
              <a:r>
                <a:rPr lang="en" sz="1300" dirty="0">
                  <a:solidFill>
                    <a:schemeClr val="dk2"/>
                  </a:solidFill>
                  <a:highlight>
                    <a:schemeClr val="lt1"/>
                  </a:highlight>
                  <a:latin typeface="Nunito"/>
                  <a:ea typeface="Nunito"/>
                  <a:cs typeface="Nunito"/>
                  <a:sym typeface="Nunito"/>
                </a:rPr>
                <a:t> &gt; 0.05, therefore don’t reject H0 . </a:t>
              </a:r>
              <a:endParaRPr sz="1300" dirty="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chemeClr val="dk2"/>
                  </a:solidFill>
                  <a:highlight>
                    <a:schemeClr val="lt1"/>
                  </a:highlight>
                  <a:latin typeface="Nunito"/>
                  <a:ea typeface="Nunito"/>
                  <a:cs typeface="Nunito"/>
                  <a:sym typeface="Nunito"/>
                </a:rPr>
                <a:t>It cannot be proved that the errors are heteroskedastic, i.e. they can be assumed to be homoskedastic.</a:t>
              </a:r>
              <a:endParaRPr sz="1300" dirty="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4"/>
          <p:cNvSpPr txBox="1">
            <a:spLocks noGrp="1"/>
          </p:cNvSpPr>
          <p:nvPr>
            <p:ph type="title"/>
          </p:nvPr>
        </p:nvSpPr>
        <p:spPr>
          <a:xfrm>
            <a:off x="1303800" y="8015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Phase 3: FINAL MODEL</a:t>
            </a:r>
            <a:endParaRPr/>
          </a:p>
        </p:txBody>
      </p:sp>
      <p:pic>
        <p:nvPicPr>
          <p:cNvPr id="865" name="Google Shape;86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000" y="730700"/>
            <a:ext cx="5680101" cy="3682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90000"/>
              </a:srgbClr>
            </a:outerShdw>
            <a:reflection stA="20000" endPos="30000" dist="38100" dir="5400000" fadeDir="5400012" sy="-100000" algn="bl" rotWithShape="0"/>
          </a:effectLst>
        </p:spPr>
      </p:pic>
      <p:sp>
        <p:nvSpPr>
          <p:cNvPr id="866" name="Google Shape;866;p84"/>
          <p:cNvSpPr/>
          <p:nvPr/>
        </p:nvSpPr>
        <p:spPr>
          <a:xfrm>
            <a:off x="910325" y="4127050"/>
            <a:ext cx="888000" cy="28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85"/>
          <p:cNvSpPr txBox="1">
            <a:spLocks noGrp="1"/>
          </p:cNvSpPr>
          <p:nvPr>
            <p:ph type="title"/>
          </p:nvPr>
        </p:nvSpPr>
        <p:spPr>
          <a:xfrm>
            <a:off x="1303800" y="8015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Phase 3: Example Prediction</a:t>
            </a:r>
            <a:endParaRPr/>
          </a:p>
        </p:txBody>
      </p:sp>
      <p:sp>
        <p:nvSpPr>
          <p:cNvPr id="874" name="Google Shape;874;p85"/>
          <p:cNvSpPr/>
          <p:nvPr/>
        </p:nvSpPr>
        <p:spPr>
          <a:xfrm>
            <a:off x="4614850" y="2075775"/>
            <a:ext cx="4204500" cy="16635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5" name="Google Shape;875;p85"/>
          <p:cNvSpPr txBox="1"/>
          <p:nvPr/>
        </p:nvSpPr>
        <p:spPr>
          <a:xfrm>
            <a:off x="4900600" y="2555425"/>
            <a:ext cx="3745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latin typeface="Nunito"/>
                <a:ea typeface="Nunito"/>
                <a:cs typeface="Nunito"/>
                <a:sym typeface="Nunito"/>
              </a:rPr>
              <a:t>What does the low performance tell us ?</a:t>
            </a:r>
            <a:r>
              <a:rPr lang="en" sz="1300" dirty="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300" dirty="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AF1A3E-2100-BB60-F96C-E4FE0F48A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01" y="861956"/>
            <a:ext cx="4022952" cy="4091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54D784-CEEA-515F-F9FA-11743828B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919" y="1374548"/>
            <a:ext cx="4334362" cy="20306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>
          <a:extLst>
            <a:ext uri="{FF2B5EF4-FFF2-40B4-BE49-F238E27FC236}">
              <a16:creationId xmlns:a16="http://schemas.microsoft.com/office/drawing/2014/main" id="{83519FDD-B9D9-3FD3-C166-29C8F34D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6">
            <a:extLst>
              <a:ext uri="{FF2B5EF4-FFF2-40B4-BE49-F238E27FC236}">
                <a16:creationId xmlns:a16="http://schemas.microsoft.com/office/drawing/2014/main" id="{AF8112B7-BAD0-412C-B91D-57B88A66E0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Phase 4: Gender</a:t>
            </a:r>
            <a:endParaRPr dirty="0"/>
          </a:p>
        </p:txBody>
      </p:sp>
      <p:sp>
        <p:nvSpPr>
          <p:cNvPr id="710" name="Google Shape;710;p66">
            <a:extLst>
              <a:ext uri="{FF2B5EF4-FFF2-40B4-BE49-F238E27FC236}">
                <a16:creationId xmlns:a16="http://schemas.microsoft.com/office/drawing/2014/main" id="{9925D05B-5A96-755F-D9EB-7E0C24136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363" y="1755160"/>
            <a:ext cx="5281728" cy="919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●"/>
            </a:pPr>
            <a:r>
              <a:rPr lang="en">
                <a:solidFill>
                  <a:schemeClr val="lt1"/>
                </a:solidFill>
              </a:rPr>
              <a:t>Females boast a slimmer build, possibly making it easier to glide through water. There could be less resistance due to  a lower surface area. Possibly have a higher affinity for technical skills.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11" name="Google Shape;711;p66">
            <a:extLst>
              <a:ext uri="{FF2B5EF4-FFF2-40B4-BE49-F238E27FC236}">
                <a16:creationId xmlns:a16="http://schemas.microsoft.com/office/drawing/2014/main" id="{B97A741D-488A-A425-79B4-7154684756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8185" y="2924992"/>
            <a:ext cx="3096111" cy="2064074"/>
          </a:xfrm>
          <a:prstGeom prst="rect">
            <a:avLst/>
          </a:prstGeom>
          <a:gradFill>
            <a:gsLst>
              <a:gs pos="0">
                <a:srgbClr val="AACA3D"/>
              </a:gs>
              <a:gs pos="48000">
                <a:srgbClr val="D7E6A5"/>
              </a:gs>
              <a:gs pos="100000">
                <a:srgbClr val="E6EFC7"/>
              </a:gs>
            </a:gsLst>
            <a:lin ang="16200000" scaled="0"/>
          </a:gradFill>
          <a:ln>
            <a:noFill/>
          </a:ln>
        </p:spPr>
      </p:pic>
      <p:pic>
        <p:nvPicPr>
          <p:cNvPr id="712" name="Google Shape;712;p66">
            <a:extLst>
              <a:ext uri="{FF2B5EF4-FFF2-40B4-BE49-F238E27FC236}">
                <a16:creationId xmlns:a16="http://schemas.microsoft.com/office/drawing/2014/main" id="{691C774C-D4AA-ED5D-F046-CA3596C3B2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78185" y="598575"/>
            <a:ext cx="2455355" cy="2150971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66">
            <a:extLst>
              <a:ext uri="{FF2B5EF4-FFF2-40B4-BE49-F238E27FC236}">
                <a16:creationId xmlns:a16="http://schemas.microsoft.com/office/drawing/2014/main" id="{08BDAAA9-4C8B-667E-8E30-3590F67AE214}"/>
              </a:ext>
            </a:extLst>
          </p:cNvPr>
          <p:cNvSpPr txBox="1"/>
          <p:nvPr/>
        </p:nvSpPr>
        <p:spPr>
          <a:xfrm>
            <a:off x="75363" y="3342410"/>
            <a:ext cx="5281728" cy="919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</a:pPr>
            <a:r>
              <a:rPr lang="en" sz="13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Males boast a higher muscle mass, possibly making it easier to propel themselves through water. They have a higher power output. Possibly have a higher affinity for endurance.</a:t>
            </a:r>
            <a:endParaRPr sz="1300" b="0" i="0" u="none" strike="noStrike" cap="non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6520119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>
          <a:extLst>
            <a:ext uri="{FF2B5EF4-FFF2-40B4-BE49-F238E27FC236}">
              <a16:creationId xmlns:a16="http://schemas.microsoft.com/office/drawing/2014/main" id="{24DE2500-5AEB-972E-8187-3C9A699E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7">
            <a:extLst>
              <a:ext uri="{FF2B5EF4-FFF2-40B4-BE49-F238E27FC236}">
                <a16:creationId xmlns:a16="http://schemas.microsoft.com/office/drawing/2014/main" id="{A7F834CC-45FB-3F14-FA32-9D3D3BAF22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Phase 4: Gender</a:t>
            </a:r>
            <a:endParaRPr dirty="0"/>
          </a:p>
        </p:txBody>
      </p:sp>
      <p:graphicFrame>
        <p:nvGraphicFramePr>
          <p:cNvPr id="719" name="Google Shape;719;p67">
            <a:extLst>
              <a:ext uri="{FF2B5EF4-FFF2-40B4-BE49-F238E27FC236}">
                <a16:creationId xmlns:a16="http://schemas.microsoft.com/office/drawing/2014/main" id="{671AF4B6-B3D9-F026-609D-F9934E0D4B74}"/>
              </a:ext>
            </a:extLst>
          </p:cNvPr>
          <p:cNvGraphicFramePr/>
          <p:nvPr/>
        </p:nvGraphicFramePr>
        <p:xfrm>
          <a:off x="1440873" y="1764145"/>
          <a:ext cx="6096000" cy="2445825"/>
        </p:xfrm>
        <a:graphic>
          <a:graphicData uri="http://schemas.openxmlformats.org/drawingml/2006/table">
            <a:tbl>
              <a:tblPr firstRow="1" bandRow="1">
                <a:noFill/>
                <a:tableStyleId>{58764678-CECB-4FD5-A3A6-29206F855A8C}</a:tableStyleId>
              </a:tblPr>
              <a:tblGrid>
                <a:gridCol w="303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</a:rPr>
                        <a:t>Males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AC1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</a:rPr>
                        <a:t>Females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4AC1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</a:rPr>
                        <a:t>Higher muscle strength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</a:rPr>
                        <a:t>More technical skills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</a:rPr>
                        <a:t>Higher endurance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</a:rPr>
                        <a:t>Better pattern recognition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</a:rPr>
                        <a:t>Higher lactate threshold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>
                          <a:solidFill>
                            <a:schemeClr val="lt1"/>
                          </a:solidFill>
                        </a:rPr>
                        <a:t>Better body alignment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20" name="Google Shape;720;p67">
            <a:extLst>
              <a:ext uri="{FF2B5EF4-FFF2-40B4-BE49-F238E27FC236}">
                <a16:creationId xmlns:a16="http://schemas.microsoft.com/office/drawing/2014/main" id="{6D89F147-0FF2-29BF-5657-CD650A41A437}"/>
              </a:ext>
            </a:extLst>
          </p:cNvPr>
          <p:cNvSpPr txBox="1"/>
          <p:nvPr/>
        </p:nvSpPr>
        <p:spPr>
          <a:xfrm>
            <a:off x="1303800" y="1290098"/>
            <a:ext cx="48768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Possible influences that Gender could have</a:t>
            </a:r>
            <a:endParaRPr sz="1400" b="1" i="0" u="none" strike="noStrike" cap="non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773181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>
          <a:extLst>
            <a:ext uri="{FF2B5EF4-FFF2-40B4-BE49-F238E27FC236}">
              <a16:creationId xmlns:a16="http://schemas.microsoft.com/office/drawing/2014/main" id="{B1FD23C5-7FEB-6412-5812-34709A177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8">
            <a:extLst>
              <a:ext uri="{FF2B5EF4-FFF2-40B4-BE49-F238E27FC236}">
                <a16:creationId xmlns:a16="http://schemas.microsoft.com/office/drawing/2014/main" id="{1ECA61CF-0E95-66CB-8F51-191B95A47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Phase 4: Gender</a:t>
            </a:r>
            <a:endParaRPr dirty="0"/>
          </a:p>
        </p:txBody>
      </p:sp>
      <p:sp>
        <p:nvSpPr>
          <p:cNvPr id="726" name="Google Shape;726;p68">
            <a:extLst>
              <a:ext uri="{FF2B5EF4-FFF2-40B4-BE49-F238E27FC236}">
                <a16:creationId xmlns:a16="http://schemas.microsoft.com/office/drawing/2014/main" id="{5ED4B21B-F982-1551-6B9B-A8E1F71D19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73172" y="1223696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Strictly modelling males and females</a:t>
            </a:r>
            <a:endParaRPr/>
          </a:p>
        </p:txBody>
      </p:sp>
      <p:pic>
        <p:nvPicPr>
          <p:cNvPr id="727" name="Google Shape;727;p68">
            <a:extLst>
              <a:ext uri="{FF2B5EF4-FFF2-40B4-BE49-F238E27FC236}">
                <a16:creationId xmlns:a16="http://schemas.microsoft.com/office/drawing/2014/main" id="{8665BA4F-C5F9-8030-330F-AF94CF19E3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872" y="1738609"/>
            <a:ext cx="3715268" cy="704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68">
            <a:extLst>
              <a:ext uri="{FF2B5EF4-FFF2-40B4-BE49-F238E27FC236}">
                <a16:creationId xmlns:a16="http://schemas.microsoft.com/office/drawing/2014/main" id="{FE539E24-6DE6-8843-FF83-6B9D50A6A3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9050" y="1690977"/>
            <a:ext cx="4172532" cy="752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68">
            <a:extLst>
              <a:ext uri="{FF2B5EF4-FFF2-40B4-BE49-F238E27FC236}">
                <a16:creationId xmlns:a16="http://schemas.microsoft.com/office/drawing/2014/main" id="{BBEBB8DC-3F56-34E5-C639-6216BEAC754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5872" y="2584291"/>
            <a:ext cx="2610214" cy="249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68">
            <a:extLst>
              <a:ext uri="{FF2B5EF4-FFF2-40B4-BE49-F238E27FC236}">
                <a16:creationId xmlns:a16="http://schemas.microsoft.com/office/drawing/2014/main" id="{F01918E4-F4FE-DF8A-44A1-B3E0DD0C21C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3780" y="2585359"/>
            <a:ext cx="2495898" cy="24958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13867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>
          <a:extLst>
            <a:ext uri="{FF2B5EF4-FFF2-40B4-BE49-F238E27FC236}">
              <a16:creationId xmlns:a16="http://schemas.microsoft.com/office/drawing/2014/main" id="{2606BF7F-008C-8E43-8F80-A5391CD9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9">
            <a:extLst>
              <a:ext uri="{FF2B5EF4-FFF2-40B4-BE49-F238E27FC236}">
                <a16:creationId xmlns:a16="http://schemas.microsoft.com/office/drawing/2014/main" id="{9ACEB31E-6CED-9069-B4B7-8AC695D781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Phase 4: body alignment and posture</a:t>
            </a:r>
            <a:endParaRPr dirty="0"/>
          </a:p>
        </p:txBody>
      </p:sp>
      <p:sp>
        <p:nvSpPr>
          <p:cNvPr id="736" name="Google Shape;736;p69">
            <a:extLst>
              <a:ext uri="{FF2B5EF4-FFF2-40B4-BE49-F238E27FC236}">
                <a16:creationId xmlns:a16="http://schemas.microsoft.com/office/drawing/2014/main" id="{E832BDBE-B710-F5E1-6746-8568B575B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03634" y="1829597"/>
            <a:ext cx="4039387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>
                <a:solidFill>
                  <a:schemeClr val="lt1"/>
                </a:solidFill>
              </a:rPr>
              <a:t>It’s no coincidence that evolution decided that the optimum shape for any fish should be one with a lower surface area slim figure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37" name="Google Shape;737;p69">
            <a:extLst>
              <a:ext uri="{FF2B5EF4-FFF2-40B4-BE49-F238E27FC236}">
                <a16:creationId xmlns:a16="http://schemas.microsoft.com/office/drawing/2014/main" id="{47405F9B-1F4C-8BE5-8D2B-31E0BA00DD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868" y="1186759"/>
            <a:ext cx="3632223" cy="2284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69">
            <a:extLst>
              <a:ext uri="{FF2B5EF4-FFF2-40B4-BE49-F238E27FC236}">
                <a16:creationId xmlns:a16="http://schemas.microsoft.com/office/drawing/2014/main" id="{3C619603-1DA9-35BF-B6B6-3CA31420BE0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483" y="3689641"/>
            <a:ext cx="3450991" cy="1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69">
            <a:extLst>
              <a:ext uri="{FF2B5EF4-FFF2-40B4-BE49-F238E27FC236}">
                <a16:creationId xmlns:a16="http://schemas.microsoft.com/office/drawing/2014/main" id="{7AF13F58-6F4E-0A1E-25E3-97903F29C31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6087" y="3725651"/>
            <a:ext cx="4039391" cy="1136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54058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237F6530-2584-8F9F-46DA-DE92C5A3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0">
            <a:extLst>
              <a:ext uri="{FF2B5EF4-FFF2-40B4-BE49-F238E27FC236}">
                <a16:creationId xmlns:a16="http://schemas.microsoft.com/office/drawing/2014/main" id="{D0525799-D548-4BA5-00EC-E3D9809595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1108" y="240512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Phase 4: Body Alignment and Posture</a:t>
            </a:r>
            <a:endParaRPr dirty="0"/>
          </a:p>
        </p:txBody>
      </p:sp>
      <p:sp>
        <p:nvSpPr>
          <p:cNvPr id="745" name="Google Shape;745;p70">
            <a:extLst>
              <a:ext uri="{FF2B5EF4-FFF2-40B4-BE49-F238E27FC236}">
                <a16:creationId xmlns:a16="http://schemas.microsoft.com/office/drawing/2014/main" id="{D1E0458B-4261-B153-89CD-93A5BFCEF1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21745" y="911966"/>
            <a:ext cx="3657213" cy="1272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4415"/>
              <a:buNone/>
            </a:pPr>
            <a:r>
              <a:rPr lang="en" sz="2200">
                <a:solidFill>
                  <a:schemeClr val="lt1"/>
                </a:solidFill>
              </a:rPr>
              <a:t>Posture when swimming proves to be very important as it limits the amount of “drag” on the body.</a:t>
            </a:r>
            <a:endParaRPr/>
          </a:p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4415"/>
              <a:buNone/>
            </a:pPr>
            <a:endParaRPr sz="2200">
              <a:solidFill>
                <a:schemeClr val="lt1"/>
              </a:solidFill>
            </a:endParaRPr>
          </a:p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4415"/>
              <a:buNone/>
            </a:pPr>
            <a:r>
              <a:rPr lang="en" sz="2200">
                <a:solidFill>
                  <a:schemeClr val="lt1"/>
                </a:solidFill>
              </a:rPr>
              <a:t>Can you see the similarity?</a:t>
            </a:r>
            <a:endParaRPr/>
          </a:p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746" name="Google Shape;746;p70">
            <a:extLst>
              <a:ext uri="{FF2B5EF4-FFF2-40B4-BE49-F238E27FC236}">
                <a16:creationId xmlns:a16="http://schemas.microsoft.com/office/drawing/2014/main" id="{4593F429-2CED-E808-6BB5-0AF4ED35B5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240533" y="911966"/>
            <a:ext cx="2668922" cy="170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70">
            <a:extLst>
              <a:ext uri="{FF2B5EF4-FFF2-40B4-BE49-F238E27FC236}">
                <a16:creationId xmlns:a16="http://schemas.microsoft.com/office/drawing/2014/main" id="{C7638827-AA4C-56B7-DCAE-74224B2BEC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3030353" y="2313132"/>
            <a:ext cx="2483756" cy="1569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70">
            <a:extLst>
              <a:ext uri="{FF2B5EF4-FFF2-40B4-BE49-F238E27FC236}">
                <a16:creationId xmlns:a16="http://schemas.microsoft.com/office/drawing/2014/main" id="{5700170A-5A80-E493-700E-8124E400280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5803208" y="3269673"/>
            <a:ext cx="2438400" cy="17277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9" name="Google Shape;749;p70">
            <a:extLst>
              <a:ext uri="{FF2B5EF4-FFF2-40B4-BE49-F238E27FC236}">
                <a16:creationId xmlns:a16="http://schemas.microsoft.com/office/drawing/2014/main" id="{73F5F226-D8F2-B82E-383C-F24CF58C0405}"/>
              </a:ext>
            </a:extLst>
          </p:cNvPr>
          <p:cNvCxnSpPr/>
          <p:nvPr/>
        </p:nvCxnSpPr>
        <p:spPr>
          <a:xfrm>
            <a:off x="1736436" y="2612960"/>
            <a:ext cx="1265400" cy="758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0" name="Google Shape;750;p70">
            <a:extLst>
              <a:ext uri="{FF2B5EF4-FFF2-40B4-BE49-F238E27FC236}">
                <a16:creationId xmlns:a16="http://schemas.microsoft.com/office/drawing/2014/main" id="{26D532BA-3A4C-F1F7-3E99-6A218B8B18F9}"/>
              </a:ext>
            </a:extLst>
          </p:cNvPr>
          <p:cNvCxnSpPr/>
          <p:nvPr/>
        </p:nvCxnSpPr>
        <p:spPr>
          <a:xfrm>
            <a:off x="5061527" y="3882202"/>
            <a:ext cx="741600" cy="625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885785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>
          <a:extLst>
            <a:ext uri="{FF2B5EF4-FFF2-40B4-BE49-F238E27FC236}">
              <a16:creationId xmlns:a16="http://schemas.microsoft.com/office/drawing/2014/main" id="{05772245-DC68-69EA-729A-6F165A262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1">
            <a:extLst>
              <a:ext uri="{FF2B5EF4-FFF2-40B4-BE49-F238E27FC236}">
                <a16:creationId xmlns:a16="http://schemas.microsoft.com/office/drawing/2014/main" id="{2647D119-3FAD-A7CD-A374-2AE7691FC1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Phase 4: Decision Making, Technical skills and Pattern Recognition</a:t>
            </a:r>
            <a:endParaRPr dirty="0"/>
          </a:p>
        </p:txBody>
      </p:sp>
      <p:sp>
        <p:nvSpPr>
          <p:cNvPr id="756" name="Google Shape;756;p71">
            <a:extLst>
              <a:ext uri="{FF2B5EF4-FFF2-40B4-BE49-F238E27FC236}">
                <a16:creationId xmlns:a16="http://schemas.microsoft.com/office/drawing/2014/main" id="{4D980E05-22C3-A380-F3E2-14D877949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●"/>
            </a:pPr>
            <a:r>
              <a:rPr lang="en">
                <a:solidFill>
                  <a:schemeClr val="lt1"/>
                </a:solidFill>
              </a:rPr>
              <a:t>These 3 factors could be heavily tied to each other. The element of time is involved when maneuvering under water.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7" name="Google Shape;757;p71">
            <a:extLst>
              <a:ext uri="{FF2B5EF4-FFF2-40B4-BE49-F238E27FC236}">
                <a16:creationId xmlns:a16="http://schemas.microsoft.com/office/drawing/2014/main" id="{F164AE65-E593-AE44-27A8-76C7EA2D3F5F}"/>
              </a:ext>
            </a:extLst>
          </p:cNvPr>
          <p:cNvSpPr/>
          <p:nvPr/>
        </p:nvSpPr>
        <p:spPr>
          <a:xfrm>
            <a:off x="110837" y="2853665"/>
            <a:ext cx="2789382" cy="142758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0848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to maneuver?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71">
            <a:extLst>
              <a:ext uri="{FF2B5EF4-FFF2-40B4-BE49-F238E27FC236}">
                <a16:creationId xmlns:a16="http://schemas.microsoft.com/office/drawing/2014/main" id="{8ECB62B3-9424-04B9-9A81-F078F1C5AD51}"/>
              </a:ext>
            </a:extLst>
          </p:cNvPr>
          <p:cNvSpPr/>
          <p:nvPr/>
        </p:nvSpPr>
        <p:spPr>
          <a:xfrm>
            <a:off x="3177309" y="2853665"/>
            <a:ext cx="2789382" cy="142758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0848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to maneuver?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71">
            <a:extLst>
              <a:ext uri="{FF2B5EF4-FFF2-40B4-BE49-F238E27FC236}">
                <a16:creationId xmlns:a16="http://schemas.microsoft.com/office/drawing/2014/main" id="{A45F16DD-B89B-3ABE-7E23-0D60E9E6DF61}"/>
              </a:ext>
            </a:extLst>
          </p:cNvPr>
          <p:cNvSpPr/>
          <p:nvPr/>
        </p:nvSpPr>
        <p:spPr>
          <a:xfrm>
            <a:off x="6243781" y="2828175"/>
            <a:ext cx="2789382" cy="142758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0848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often to maneuver?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60076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>
          <a:extLst>
            <a:ext uri="{FF2B5EF4-FFF2-40B4-BE49-F238E27FC236}">
              <a16:creationId xmlns:a16="http://schemas.microsoft.com/office/drawing/2014/main" id="{D6B3AFAA-9729-8B84-FB86-E4748436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2">
            <a:extLst>
              <a:ext uri="{FF2B5EF4-FFF2-40B4-BE49-F238E27FC236}">
                <a16:creationId xmlns:a16="http://schemas.microsoft.com/office/drawing/2014/main" id="{65F6B69E-870E-C34F-1CE8-D2737C657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1122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Phase 4: Decision Making</a:t>
            </a:r>
            <a:endParaRPr dirty="0"/>
          </a:p>
        </p:txBody>
      </p:sp>
      <p:sp>
        <p:nvSpPr>
          <p:cNvPr id="765" name="Google Shape;765;p72">
            <a:extLst>
              <a:ext uri="{FF2B5EF4-FFF2-40B4-BE49-F238E27FC236}">
                <a16:creationId xmlns:a16="http://schemas.microsoft.com/office/drawing/2014/main" id="{528BC7DD-14EC-51B1-CB2D-5C70CABF3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776223"/>
            <a:ext cx="8508999" cy="1515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What type of decisions do swimmers even make?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They have to pace themselves and adjust their speed at the right moments.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All this is important in order to not exhaust themselves.</a:t>
            </a:r>
            <a:endParaRPr/>
          </a:p>
        </p:txBody>
      </p:sp>
      <p:sp>
        <p:nvSpPr>
          <p:cNvPr id="766" name="Google Shape;766;p72">
            <a:extLst>
              <a:ext uri="{FF2B5EF4-FFF2-40B4-BE49-F238E27FC236}">
                <a16:creationId xmlns:a16="http://schemas.microsoft.com/office/drawing/2014/main" id="{C5F12199-96FE-EE67-0232-666445F3FD17}"/>
              </a:ext>
            </a:extLst>
          </p:cNvPr>
          <p:cNvSpPr/>
          <p:nvPr/>
        </p:nvSpPr>
        <p:spPr>
          <a:xfrm>
            <a:off x="396901" y="2146762"/>
            <a:ext cx="2432204" cy="1828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0429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pace should you use?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72">
            <a:extLst>
              <a:ext uri="{FF2B5EF4-FFF2-40B4-BE49-F238E27FC236}">
                <a16:creationId xmlns:a16="http://schemas.microsoft.com/office/drawing/2014/main" id="{7511ABB3-75FF-2876-A426-B600F74D60D6}"/>
              </a:ext>
            </a:extLst>
          </p:cNvPr>
          <p:cNvSpPr/>
          <p:nvPr/>
        </p:nvSpPr>
        <p:spPr>
          <a:xfrm>
            <a:off x="3355898" y="2146762"/>
            <a:ext cx="2432204" cy="1828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0429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fast should you breathe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72">
            <a:extLst>
              <a:ext uri="{FF2B5EF4-FFF2-40B4-BE49-F238E27FC236}">
                <a16:creationId xmlns:a16="http://schemas.microsoft.com/office/drawing/2014/main" id="{AC22A9A9-7DD6-263C-709E-867995010DBE}"/>
              </a:ext>
            </a:extLst>
          </p:cNvPr>
          <p:cNvSpPr/>
          <p:nvPr/>
        </p:nvSpPr>
        <p:spPr>
          <a:xfrm>
            <a:off x="6473696" y="2146762"/>
            <a:ext cx="2432204" cy="1828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0429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to adjust speed?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09019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>
          <a:extLst>
            <a:ext uri="{FF2B5EF4-FFF2-40B4-BE49-F238E27FC236}">
              <a16:creationId xmlns:a16="http://schemas.microsoft.com/office/drawing/2014/main" id="{56FF0683-BCE6-A7C7-5967-0F19B1F7B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3">
            <a:extLst>
              <a:ext uri="{FF2B5EF4-FFF2-40B4-BE49-F238E27FC236}">
                <a16:creationId xmlns:a16="http://schemas.microsoft.com/office/drawing/2014/main" id="{217C41C3-8584-42DF-C217-602D3B2D64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Phase 4: Technical Skills</a:t>
            </a:r>
            <a:endParaRPr dirty="0"/>
          </a:p>
        </p:txBody>
      </p:sp>
      <p:sp>
        <p:nvSpPr>
          <p:cNvPr id="774" name="Google Shape;774;p73">
            <a:extLst>
              <a:ext uri="{FF2B5EF4-FFF2-40B4-BE49-F238E27FC236}">
                <a16:creationId xmlns:a16="http://schemas.microsoft.com/office/drawing/2014/main" id="{417CCADF-04E5-201D-732B-E8C87F79C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3556" y="1300950"/>
            <a:ext cx="32682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Athletes also have to decide among the plethora of techniques available. These techniques engage different muscle groups and choosing the right one is up to the athlete’s preference</a:t>
            </a:r>
            <a:endParaRPr/>
          </a:p>
        </p:txBody>
      </p:sp>
      <p:pic>
        <p:nvPicPr>
          <p:cNvPr id="775" name="Google Shape;775;p73">
            <a:extLst>
              <a:ext uri="{FF2B5EF4-FFF2-40B4-BE49-F238E27FC236}">
                <a16:creationId xmlns:a16="http://schemas.microsoft.com/office/drawing/2014/main" id="{67B539D0-D745-CE56-D042-A8D64C5E17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5263" y="3030602"/>
            <a:ext cx="2755262" cy="195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73">
            <a:extLst>
              <a:ext uri="{FF2B5EF4-FFF2-40B4-BE49-F238E27FC236}">
                <a16:creationId xmlns:a16="http://schemas.microsoft.com/office/drawing/2014/main" id="{1AA2074C-FF9E-94EB-5224-26842F50A5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5057" y="1382945"/>
            <a:ext cx="4502539" cy="34804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68131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>
          <a:extLst>
            <a:ext uri="{FF2B5EF4-FFF2-40B4-BE49-F238E27FC236}">
              <a16:creationId xmlns:a16="http://schemas.microsoft.com/office/drawing/2014/main" id="{6DF79E26-90D0-95F6-3AC2-0D2EA6C9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4">
            <a:extLst>
              <a:ext uri="{FF2B5EF4-FFF2-40B4-BE49-F238E27FC236}">
                <a16:creationId xmlns:a16="http://schemas.microsoft.com/office/drawing/2014/main" id="{69F12203-81D3-91D0-2325-FB602885B6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Phase 4: Endurance, Lactate Threshold and Muscle Strength</a:t>
            </a:r>
            <a:endParaRPr dirty="0"/>
          </a:p>
        </p:txBody>
      </p:sp>
      <p:sp>
        <p:nvSpPr>
          <p:cNvPr id="782" name="Google Shape;782;p74">
            <a:extLst>
              <a:ext uri="{FF2B5EF4-FFF2-40B4-BE49-F238E27FC236}">
                <a16:creationId xmlns:a16="http://schemas.microsoft.com/office/drawing/2014/main" id="{CE6D879E-3320-F39E-6DBD-8C262B208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solidFill>
                  <a:schemeClr val="lt1"/>
                </a:solidFill>
              </a:rPr>
              <a:t>As discussed in Phase 1, We have already identified how strongly tied endurance, lactate threshold and muscle strength is.</a:t>
            </a:r>
            <a:endParaRPr/>
          </a:p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>
              <a:solidFill>
                <a:schemeClr val="lt1"/>
              </a:solidFill>
            </a:endParaRPr>
          </a:p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783" name="Google Shape;783;p74">
            <a:extLst>
              <a:ext uri="{FF2B5EF4-FFF2-40B4-BE49-F238E27FC236}">
                <a16:creationId xmlns:a16="http://schemas.microsoft.com/office/drawing/2014/main" id="{606B1359-AB7F-7022-3A61-214D6EE29C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75" y="2675755"/>
            <a:ext cx="3746783" cy="2248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74">
            <a:extLst>
              <a:ext uri="{FF2B5EF4-FFF2-40B4-BE49-F238E27FC236}">
                <a16:creationId xmlns:a16="http://schemas.microsoft.com/office/drawing/2014/main" id="{056AD430-33A6-981F-1E1C-D9BF850D25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8237" y="2615513"/>
            <a:ext cx="2769974" cy="2308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76191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86"/>
          <p:cNvSpPr txBox="1">
            <a:spLocks noGrp="1"/>
          </p:cNvSpPr>
          <p:nvPr>
            <p:ph type="title"/>
          </p:nvPr>
        </p:nvSpPr>
        <p:spPr>
          <a:xfrm>
            <a:off x="1303800" y="8015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4: Summary of Evidence on Significant Variables Affecting Swimming Performance</a:t>
            </a:r>
            <a:endParaRPr/>
          </a:p>
        </p:txBody>
      </p:sp>
      <p:sp>
        <p:nvSpPr>
          <p:cNvPr id="881" name="Google Shape;881;p86"/>
          <p:cNvSpPr txBox="1"/>
          <p:nvPr/>
        </p:nvSpPr>
        <p:spPr>
          <a:xfrm>
            <a:off x="0" y="1413800"/>
            <a:ext cx="914400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7179A"/>
                </a:solidFill>
                <a:highlight>
                  <a:srgbClr val="FFFFFF"/>
                </a:highlight>
              </a:rPr>
              <a:t>Lactate Threshold</a:t>
            </a:r>
            <a:r>
              <a:rPr lang="en" sz="1100" dirty="0">
                <a:highlight>
                  <a:srgbClr val="FFFFFF"/>
                </a:highlight>
              </a:rPr>
              <a:t>: A higher lactate threshold allows swimmers to maintain higher intensities longer, contributing to improved performance (Snyder et al., 2015).</a:t>
            </a:r>
            <a:endParaRPr sz="11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7179A"/>
                </a:solidFill>
                <a:highlight>
                  <a:srgbClr val="FFFFFF"/>
                </a:highlight>
              </a:rPr>
              <a:t>Body Composition and Muscle Strength</a:t>
            </a:r>
            <a:r>
              <a:rPr lang="en" sz="1100" dirty="0">
                <a:highlight>
                  <a:srgbClr val="FFFFFF"/>
                </a:highlight>
              </a:rPr>
              <a:t>: Optimal body composition and strength enhance swimming efficiency, with studies showing that greater muscle power correlates with better sprint performance (Haff et al., 2015).</a:t>
            </a:r>
            <a:endParaRPr sz="11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7179A"/>
                </a:solidFill>
                <a:highlight>
                  <a:srgbClr val="FFFFFF"/>
                </a:highlight>
              </a:rPr>
              <a:t>Training Variables</a:t>
            </a:r>
            <a:r>
              <a:rPr lang="en-US" sz="1100" dirty="0">
                <a:highlight>
                  <a:srgbClr val="FFFFFF"/>
                </a:highlight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highlight>
                  <a:srgbClr val="FFFFFF"/>
                </a:highlight>
              </a:rPr>
              <a:t>Training Volume and Intensity: Customized training regimens that balance endurance and speed work lead to optimal performance gains.</a:t>
            </a:r>
            <a:endParaRPr sz="11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highlight>
                  <a:srgbClr val="FFFFFF"/>
                </a:highlight>
              </a:rPr>
              <a:t>Technique Development: Efficient stroke technique is critical for reducing drag and improving speed, emphasizing the need for technical training alongside physical conditioning (Maglischo, 2003).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1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Technical Skills</a:t>
            </a:r>
            <a:r>
              <a:rPr lang="en" sz="1100" dirty="0">
                <a:solidFill>
                  <a:schemeClr val="accent5">
                    <a:lumMod val="75000"/>
                  </a:schemeClr>
                </a:solidFill>
                <a:highlight>
                  <a:srgbClr val="FFFFFF"/>
                </a:highlight>
              </a:rPr>
              <a:t>: </a:t>
            </a:r>
            <a:r>
              <a:rPr lang="en" sz="1100" dirty="0">
                <a:solidFill>
                  <a:srgbClr val="303030"/>
                </a:solidFill>
                <a:highlight>
                  <a:srgbClr val="FFFFFF"/>
                </a:highlight>
              </a:rPr>
              <a:t>Technical proficiency allows swimmers to better handle changes in pace or respons to the physical demands of turns and starts (Springer et al. ,2002).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100" dirty="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accent5"/>
                </a:solidFill>
                <a:highlight>
                  <a:srgbClr val="FFFFFF"/>
                </a:highlight>
              </a:rPr>
              <a:t>Gender</a:t>
            </a:r>
            <a:r>
              <a:rPr lang="en-US" sz="1100" dirty="0">
                <a:highlight>
                  <a:srgbClr val="FFFFFF"/>
                </a:highlight>
              </a:rPr>
              <a:t>: Greater buoyancy due to higher body fat percentage and greater muscle mass in males (Seifert et al., 2010)</a:t>
            </a:r>
            <a:endParaRPr sz="1100" dirty="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7"/>
          <p:cNvSpPr txBox="1">
            <a:spLocks noGrp="1"/>
          </p:cNvSpPr>
          <p:nvPr>
            <p:ph type="title"/>
          </p:nvPr>
        </p:nvSpPr>
        <p:spPr>
          <a:xfrm>
            <a:off x="1303800" y="8015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Phase 4: Summary of Evidence on Significant Variables Affecting Swimming Performance</a:t>
            </a:r>
            <a:endParaRPr/>
          </a:p>
        </p:txBody>
      </p:sp>
      <p:sp>
        <p:nvSpPr>
          <p:cNvPr id="887" name="Google Shape;887;p87"/>
          <p:cNvSpPr txBox="1"/>
          <p:nvPr/>
        </p:nvSpPr>
        <p:spPr>
          <a:xfrm>
            <a:off x="1133850" y="1833000"/>
            <a:ext cx="7370400" cy="22159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Mujika, I., et al. (2000). "Physiological responses to training."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: Snyder, B.J., et al. (2015). "Lactate threshold and its relationship to swimming performance."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: Haff, G.G., et al. (2015). "Strength training for swimmers."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: Gould, D., et al. (2002). "Mental toughness in sport."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: Vealey, R.S., et al. (2007). "Self-confidence in athletes."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: Maglischo, E.W. (2003). "Swimming Fastest.“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sym typeface="Roboto"/>
              </a:rPr>
              <a:t>: </a:t>
            </a:r>
            <a:r>
              <a:rPr lang="en-ZA" sz="1200" dirty="0">
                <a:latin typeface="Roboto"/>
                <a:ea typeface="Roboto"/>
                <a:sym typeface="Roboto"/>
                <a:hlinkClick r:id="rId3"/>
              </a:rPr>
              <a:t>https://link.springer.com/article/10.2165/00007256-200232090-00001</a:t>
            </a:r>
            <a:r>
              <a:rPr lang="en-ZA" sz="1200" dirty="0">
                <a:latin typeface="Roboto"/>
                <a:ea typeface="Roboto"/>
                <a:sym typeface="Roboto"/>
              </a:rPr>
              <a:t>: Science on physical performance determinants in swimmers.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200" dirty="0">
                <a:latin typeface="Roboto"/>
                <a:ea typeface="Roboto"/>
                <a:sym typeface="Roboto"/>
              </a:rPr>
              <a:t>: Seifert, L., Barbosa, T. M., &amp; </a:t>
            </a:r>
            <a:r>
              <a:rPr lang="en-ZA" sz="1200" dirty="0" err="1">
                <a:latin typeface="Roboto"/>
                <a:ea typeface="Roboto"/>
                <a:sym typeface="Roboto"/>
              </a:rPr>
              <a:t>Kjendlie</a:t>
            </a:r>
            <a:r>
              <a:rPr lang="en-ZA" sz="1200" dirty="0">
                <a:latin typeface="Roboto"/>
                <a:ea typeface="Roboto"/>
                <a:sym typeface="Roboto"/>
              </a:rPr>
              <a:t>, P. L. 2010. Biophysical approach in swimming: Gender effect. In: Davies, S. A., ed. Gender gap: Causes, experiences and effects. Hauppauge, NY: Nova Science Publishers, Inc., pp. 1-22.</a:t>
            </a:r>
            <a:endParaRPr sz="1100" dirty="0"/>
          </a:p>
        </p:txBody>
      </p:sp>
      <p:sp>
        <p:nvSpPr>
          <p:cNvPr id="888" name="Google Shape;888;p87"/>
          <p:cNvSpPr txBox="1"/>
          <p:nvPr/>
        </p:nvSpPr>
        <p:spPr>
          <a:xfrm>
            <a:off x="1133850" y="1392025"/>
            <a:ext cx="18063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SOURCES</a:t>
            </a:r>
            <a:endParaRPr sz="1300" b="1" i="1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2563</Words>
  <Application>Microsoft Office PowerPoint</Application>
  <PresentationFormat>On-screen Show (16:9)</PresentationFormat>
  <Paragraphs>295</Paragraphs>
  <Slides>64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Maven Pro</vt:lpstr>
      <vt:lpstr>Roboto Mono</vt:lpstr>
      <vt:lpstr>Arial</vt:lpstr>
      <vt:lpstr>Roboto</vt:lpstr>
      <vt:lpstr>Nunito</vt:lpstr>
      <vt:lpstr>Simple Light</vt:lpstr>
      <vt:lpstr>Momentum</vt:lpstr>
      <vt:lpstr>Factors Affecting Performance in Swimming</vt:lpstr>
      <vt:lpstr>Sections: Tafara Kanyemba: 3-15,29,34-37 Unathi Manana: 20-28,30-31 Neo Zandamela: 16-19,32-33 </vt:lpstr>
      <vt:lpstr>PowerPoint Presentation</vt:lpstr>
      <vt:lpstr>Phase 1 – Exploratory Data Analysis (EDA) Overview</vt:lpstr>
      <vt:lpstr>Phase 1 – Correlation Analysis</vt:lpstr>
      <vt:lpstr>Phase 1 – Correlation Analysis</vt:lpstr>
      <vt:lpstr>Phase 1 – Correlation Analysis</vt:lpstr>
      <vt:lpstr>Phase 1- Categorical Variables</vt:lpstr>
      <vt:lpstr>Phase 1- Categorical variables</vt:lpstr>
      <vt:lpstr>Phase 1 – Scatterplots</vt:lpstr>
      <vt:lpstr>Phase 1 – Scatterplots</vt:lpstr>
      <vt:lpstr>Phase 1- Scatterplots</vt:lpstr>
      <vt:lpstr>Phase 1 – Multi-dimensional Analysis</vt:lpstr>
      <vt:lpstr>Phase 1- Bubbleplots</vt:lpstr>
      <vt:lpstr>Phase 1-Gender Gap</vt:lpstr>
      <vt:lpstr>Phase 1: Visualization of Performance, Muscle Strength, and Mental Factors in Swim Data</vt:lpstr>
      <vt:lpstr>Phase 1: Visualization of Performance, Muscle Strength, and Mental Factors in Swim Data</vt:lpstr>
      <vt:lpstr>Phase 1: Visualization of Performance, Muscle Strength, and Mental Factors in Swim Data</vt:lpstr>
      <vt:lpstr>Phase 1: Visualization of Performance, Muscle Strength, and Mental Factors in Swim Data</vt:lpstr>
      <vt:lpstr>Phase 1: Analyzing Performance, Fitness, and Endurance Metrics in Swimmers</vt:lpstr>
      <vt:lpstr>Phase 1: Analyzing Performance, Fitness, and Endurance Metrics in Swimmers</vt:lpstr>
      <vt:lpstr>Phase 1: Analyzing Performance, Fitness, and Endurance Metrics in Swimmers</vt:lpstr>
      <vt:lpstr>Phase 1: Analyzing Performance, Fitness, and Endurance Metrics in Swimmers</vt:lpstr>
      <vt:lpstr>Phase 1: Analyzing Performance, Fitness, and Endurance Metrics in Swimmers</vt:lpstr>
      <vt:lpstr>Phase 1: Analyzing Performance, Fitness, and Endurance Metrics in Swimmers</vt:lpstr>
      <vt:lpstr>Phase 1: Analyzing Performance, Fitness, and Endurance Metrics in Swimmers</vt:lpstr>
      <vt:lpstr>Phase 1: Analyzing Performance, Fitness, and Endurance Metrics in Swimmers</vt:lpstr>
      <vt:lpstr>Phase 2 – Hypothesis Testing: Psychological Factors and Performance</vt:lpstr>
      <vt:lpstr>Phase 2- Hypothesis Testing: Psychological Factors and Performance</vt:lpstr>
      <vt:lpstr>Phase 2- Hypothesis Testing: Psychological Factors and Performance</vt:lpstr>
      <vt:lpstr>Phase 2- Hypothesis Testing: Psychological Factors and Performance</vt:lpstr>
      <vt:lpstr>Phase 2- Hypothesis Testing: Psychological Factors and Performance</vt:lpstr>
      <vt:lpstr>Phase 2 – Hypothesis Testing: Gender and Performance</vt:lpstr>
      <vt:lpstr>Phase 2 – Hypothesis Testing: Gender and Performance</vt:lpstr>
      <vt:lpstr>Phase 2 – Hypothesis Testing: Gender and Performance</vt:lpstr>
      <vt:lpstr>Phase 2 – Hypothesis Testing: Gender and Performance</vt:lpstr>
      <vt:lpstr>Phase 2 – Conclusion</vt:lpstr>
      <vt:lpstr>Phase 3-4</vt:lpstr>
      <vt:lpstr>Phase 3 Regression Model For Swimming</vt:lpstr>
      <vt:lpstr>Phase 3: Preparing the model</vt:lpstr>
      <vt:lpstr>Phase 3: Model selection</vt:lpstr>
      <vt:lpstr>Phase 3: Model Selection</vt:lpstr>
      <vt:lpstr>Phase 3: MULTICOLLINEARITY (VIF)</vt:lpstr>
      <vt:lpstr>Phase 3: NORMALITY TESTS (graphical)</vt:lpstr>
      <vt:lpstr>Phase 3: NORMALITY TESTS (graphical)</vt:lpstr>
      <vt:lpstr>Phase 3: NORMALITY TESTS (formal)</vt:lpstr>
      <vt:lpstr>Phase 3: Diagnostic Measures</vt:lpstr>
      <vt:lpstr>Phase 3: Diagnostic Measures</vt:lpstr>
      <vt:lpstr>Phase 3: Heteroskedasticity Test (graphical)</vt:lpstr>
      <vt:lpstr>Phase 3: Heteroskedasticity Test (graphical)</vt:lpstr>
      <vt:lpstr>Phase 3: Heteroskedasticity Test (formal)</vt:lpstr>
      <vt:lpstr>Phase 3: FINAL MODEL</vt:lpstr>
      <vt:lpstr>Phase 3: Example Prediction</vt:lpstr>
      <vt:lpstr>Phase 4: Gender</vt:lpstr>
      <vt:lpstr>Phase 4: Gender</vt:lpstr>
      <vt:lpstr>Phase 4: Gender</vt:lpstr>
      <vt:lpstr>Phase 4: body alignment and posture</vt:lpstr>
      <vt:lpstr>Phase 4: Body Alignment and Posture</vt:lpstr>
      <vt:lpstr>Phase 4: Decision Making, Technical skills and Pattern Recognition</vt:lpstr>
      <vt:lpstr>Phase 4: Decision Making</vt:lpstr>
      <vt:lpstr>Phase 4: Technical Skills</vt:lpstr>
      <vt:lpstr>Phase 4: Endurance, Lactate Threshold and Muscle Strength</vt:lpstr>
      <vt:lpstr>Phase 4: Summary of Evidence on Significant Variables Affecting Swimming Performance</vt:lpstr>
      <vt:lpstr>Phase 4: Summary of Evidence on Significant Variables Affecting Swimming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Tafara Kanyemba</dc:creator>
  <cp:lastModifiedBy>T Kanyemba</cp:lastModifiedBy>
  <cp:revision>4</cp:revision>
  <dcterms:modified xsi:type="dcterms:W3CDTF">2024-10-12T13:32:35Z</dcterms:modified>
</cp:coreProperties>
</file>